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media/image17.org&amp;utm_campaign=index&amp;utm_content=original" ContentType="image/jpeg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2" r:id="rId4"/>
    <p:sldId id="273" r:id="rId5"/>
    <p:sldId id="271" r:id="rId6"/>
    <p:sldId id="274" r:id="rId7"/>
    <p:sldId id="275" r:id="rId8"/>
    <p:sldId id="276" r:id="rId9"/>
    <p:sldId id="277" r:id="rId10"/>
    <p:sldId id="278" r:id="rId11"/>
    <p:sldId id="260" r:id="rId12"/>
    <p:sldId id="261" r:id="rId13"/>
    <p:sldId id="262" r:id="rId14"/>
    <p:sldId id="281" r:id="rId15"/>
    <p:sldId id="263" r:id="rId16"/>
    <p:sldId id="264" r:id="rId17"/>
    <p:sldId id="279" r:id="rId18"/>
    <p:sldId id="280" r:id="rId19"/>
    <p:sldId id="265" r:id="rId20"/>
    <p:sldId id="266" r:id="rId21"/>
    <p:sldId id="268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0463A5-C452-4F1B-929B-432BF90B204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F1499AA-0B1B-4198-8BFA-EEABB9B79B2B}">
      <dgm:prSet/>
      <dgm:spPr/>
      <dgm:t>
        <a:bodyPr/>
        <a:lstStyle/>
        <a:p>
          <a:r>
            <a:rPr lang="ru-RU"/>
            <a:t>Осмысленный характер</a:t>
          </a:r>
          <a:endParaRPr lang="en-US"/>
        </a:p>
      </dgm:t>
    </dgm:pt>
    <dgm:pt modelId="{264B306A-CC8E-46FB-8916-7CC878B3E133}" type="parTrans" cxnId="{4C041C66-9CB0-4742-841C-0FAEA73F2B27}">
      <dgm:prSet/>
      <dgm:spPr/>
      <dgm:t>
        <a:bodyPr/>
        <a:lstStyle/>
        <a:p>
          <a:endParaRPr lang="en-US"/>
        </a:p>
      </dgm:t>
    </dgm:pt>
    <dgm:pt modelId="{938E0105-C2BF-4962-A71F-FABBD6E78BB1}" type="sibTrans" cxnId="{4C041C66-9CB0-4742-841C-0FAEA73F2B27}">
      <dgm:prSet/>
      <dgm:spPr/>
      <dgm:t>
        <a:bodyPr/>
        <a:lstStyle/>
        <a:p>
          <a:endParaRPr lang="en-US"/>
        </a:p>
      </dgm:t>
    </dgm:pt>
    <dgm:pt modelId="{DE463349-C793-4280-BBC2-63AEFC610245}">
      <dgm:prSet/>
      <dgm:spPr/>
      <dgm:t>
        <a:bodyPr/>
        <a:lstStyle/>
        <a:p>
          <a:r>
            <a:rPr lang="ru-RU"/>
            <a:t>Ориентация на ожидаемую реакцию других лиц</a:t>
          </a:r>
          <a:endParaRPr lang="en-US"/>
        </a:p>
      </dgm:t>
    </dgm:pt>
    <dgm:pt modelId="{18671E32-2A6A-4FC5-8AC5-E052B3DE494D}" type="parTrans" cxnId="{7D737A64-F441-4412-8C69-DB957A3E6F1B}">
      <dgm:prSet/>
      <dgm:spPr/>
      <dgm:t>
        <a:bodyPr/>
        <a:lstStyle/>
        <a:p>
          <a:endParaRPr lang="en-US"/>
        </a:p>
      </dgm:t>
    </dgm:pt>
    <dgm:pt modelId="{46C119E2-5877-48D5-80CC-CE1B0B037F68}" type="sibTrans" cxnId="{7D737A64-F441-4412-8C69-DB957A3E6F1B}">
      <dgm:prSet/>
      <dgm:spPr/>
      <dgm:t>
        <a:bodyPr/>
        <a:lstStyle/>
        <a:p>
          <a:endParaRPr lang="en-US"/>
        </a:p>
      </dgm:t>
    </dgm:pt>
    <dgm:pt modelId="{DB9E877C-DE71-4F6F-B9A9-22776FB4DAA1}" type="pres">
      <dgm:prSet presAssocID="{220463A5-C452-4F1B-929B-432BF90B20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CC1581C-4C09-4332-A842-6616268282A1}" type="pres">
      <dgm:prSet presAssocID="{4F1499AA-0B1B-4198-8BFA-EEABB9B79B2B}" presName="hierRoot1" presStyleCnt="0"/>
      <dgm:spPr/>
    </dgm:pt>
    <dgm:pt modelId="{CB8F9484-7D49-464F-AA8E-F2527022F1BF}" type="pres">
      <dgm:prSet presAssocID="{4F1499AA-0B1B-4198-8BFA-EEABB9B79B2B}" presName="composite" presStyleCnt="0"/>
      <dgm:spPr/>
    </dgm:pt>
    <dgm:pt modelId="{1AB97C69-0F05-42FE-BB40-C2CC744ACA6A}" type="pres">
      <dgm:prSet presAssocID="{4F1499AA-0B1B-4198-8BFA-EEABB9B79B2B}" presName="background" presStyleLbl="node0" presStyleIdx="0" presStyleCnt="2"/>
      <dgm:spPr/>
    </dgm:pt>
    <dgm:pt modelId="{EA968631-C3C8-477C-A439-7D1F13690625}" type="pres">
      <dgm:prSet presAssocID="{4F1499AA-0B1B-4198-8BFA-EEABB9B79B2B}" presName="text" presStyleLbl="fgAcc0" presStyleIdx="0" presStyleCnt="2">
        <dgm:presLayoutVars>
          <dgm:chPref val="3"/>
        </dgm:presLayoutVars>
      </dgm:prSet>
      <dgm:spPr/>
    </dgm:pt>
    <dgm:pt modelId="{39A5F305-508D-495B-855B-D7746A8DC8BF}" type="pres">
      <dgm:prSet presAssocID="{4F1499AA-0B1B-4198-8BFA-EEABB9B79B2B}" presName="hierChild2" presStyleCnt="0"/>
      <dgm:spPr/>
    </dgm:pt>
    <dgm:pt modelId="{B527CC06-4CB0-4BBC-BC59-05B82C63D983}" type="pres">
      <dgm:prSet presAssocID="{DE463349-C793-4280-BBC2-63AEFC610245}" presName="hierRoot1" presStyleCnt="0"/>
      <dgm:spPr/>
    </dgm:pt>
    <dgm:pt modelId="{54D1DCA8-1207-48EA-84B7-90B9D149FE6B}" type="pres">
      <dgm:prSet presAssocID="{DE463349-C793-4280-BBC2-63AEFC610245}" presName="composite" presStyleCnt="0"/>
      <dgm:spPr/>
    </dgm:pt>
    <dgm:pt modelId="{5FF289FD-E709-4A17-9740-0D38292C3579}" type="pres">
      <dgm:prSet presAssocID="{DE463349-C793-4280-BBC2-63AEFC610245}" presName="background" presStyleLbl="node0" presStyleIdx="1" presStyleCnt="2"/>
      <dgm:spPr/>
    </dgm:pt>
    <dgm:pt modelId="{688F4772-989A-4B47-AF11-18D2D5BFC321}" type="pres">
      <dgm:prSet presAssocID="{DE463349-C793-4280-BBC2-63AEFC610245}" presName="text" presStyleLbl="fgAcc0" presStyleIdx="1" presStyleCnt="2">
        <dgm:presLayoutVars>
          <dgm:chPref val="3"/>
        </dgm:presLayoutVars>
      </dgm:prSet>
      <dgm:spPr/>
    </dgm:pt>
    <dgm:pt modelId="{7FD2387A-0693-4AA1-AF41-876420B5B369}" type="pres">
      <dgm:prSet presAssocID="{DE463349-C793-4280-BBC2-63AEFC610245}" presName="hierChild2" presStyleCnt="0"/>
      <dgm:spPr/>
    </dgm:pt>
  </dgm:ptLst>
  <dgm:cxnLst>
    <dgm:cxn modelId="{CE151B0A-0AE0-4B39-9EF0-7037F0061B8F}" type="presOf" srcId="{4F1499AA-0B1B-4198-8BFA-EEABB9B79B2B}" destId="{EA968631-C3C8-477C-A439-7D1F13690625}" srcOrd="0" destOrd="0" presId="urn:microsoft.com/office/officeart/2005/8/layout/hierarchy1"/>
    <dgm:cxn modelId="{7D737A64-F441-4412-8C69-DB957A3E6F1B}" srcId="{220463A5-C452-4F1B-929B-432BF90B204A}" destId="{DE463349-C793-4280-BBC2-63AEFC610245}" srcOrd="1" destOrd="0" parTransId="{18671E32-2A6A-4FC5-8AC5-E052B3DE494D}" sibTransId="{46C119E2-5877-48D5-80CC-CE1B0B037F68}"/>
    <dgm:cxn modelId="{4C041C66-9CB0-4742-841C-0FAEA73F2B27}" srcId="{220463A5-C452-4F1B-929B-432BF90B204A}" destId="{4F1499AA-0B1B-4198-8BFA-EEABB9B79B2B}" srcOrd="0" destOrd="0" parTransId="{264B306A-CC8E-46FB-8916-7CC878B3E133}" sibTransId="{938E0105-C2BF-4962-A71F-FABBD6E78BB1}"/>
    <dgm:cxn modelId="{472D5E77-FF78-4B5B-8825-0D12940CFA4F}" type="presOf" srcId="{DE463349-C793-4280-BBC2-63AEFC610245}" destId="{688F4772-989A-4B47-AF11-18D2D5BFC321}" srcOrd="0" destOrd="0" presId="urn:microsoft.com/office/officeart/2005/8/layout/hierarchy1"/>
    <dgm:cxn modelId="{EF0DAC98-1FD3-4548-AF06-146E1EA88C16}" type="presOf" srcId="{220463A5-C452-4F1B-929B-432BF90B204A}" destId="{DB9E877C-DE71-4F6F-B9A9-22776FB4DAA1}" srcOrd="0" destOrd="0" presId="urn:microsoft.com/office/officeart/2005/8/layout/hierarchy1"/>
    <dgm:cxn modelId="{F632DFBB-A6AE-4169-BFA4-638603E6BFC1}" type="presParOf" srcId="{DB9E877C-DE71-4F6F-B9A9-22776FB4DAA1}" destId="{5CC1581C-4C09-4332-A842-6616268282A1}" srcOrd="0" destOrd="0" presId="urn:microsoft.com/office/officeart/2005/8/layout/hierarchy1"/>
    <dgm:cxn modelId="{625F1281-C8E2-4D7D-B8E1-ACB7C1474DA7}" type="presParOf" srcId="{5CC1581C-4C09-4332-A842-6616268282A1}" destId="{CB8F9484-7D49-464F-AA8E-F2527022F1BF}" srcOrd="0" destOrd="0" presId="urn:microsoft.com/office/officeart/2005/8/layout/hierarchy1"/>
    <dgm:cxn modelId="{8E5EA156-0B85-4003-B7EB-CD52CC81CE34}" type="presParOf" srcId="{CB8F9484-7D49-464F-AA8E-F2527022F1BF}" destId="{1AB97C69-0F05-42FE-BB40-C2CC744ACA6A}" srcOrd="0" destOrd="0" presId="urn:microsoft.com/office/officeart/2005/8/layout/hierarchy1"/>
    <dgm:cxn modelId="{FC12C95E-3469-40AA-8298-D7086A4BC3ED}" type="presParOf" srcId="{CB8F9484-7D49-464F-AA8E-F2527022F1BF}" destId="{EA968631-C3C8-477C-A439-7D1F13690625}" srcOrd="1" destOrd="0" presId="urn:microsoft.com/office/officeart/2005/8/layout/hierarchy1"/>
    <dgm:cxn modelId="{5B325AFA-475C-4362-9A88-7BAEB615DEF4}" type="presParOf" srcId="{5CC1581C-4C09-4332-A842-6616268282A1}" destId="{39A5F305-508D-495B-855B-D7746A8DC8BF}" srcOrd="1" destOrd="0" presId="urn:microsoft.com/office/officeart/2005/8/layout/hierarchy1"/>
    <dgm:cxn modelId="{C242BE12-83E1-44ED-8491-D847773ED3CC}" type="presParOf" srcId="{DB9E877C-DE71-4F6F-B9A9-22776FB4DAA1}" destId="{B527CC06-4CB0-4BBC-BC59-05B82C63D983}" srcOrd="1" destOrd="0" presId="urn:microsoft.com/office/officeart/2005/8/layout/hierarchy1"/>
    <dgm:cxn modelId="{D48CB6D1-38EA-4334-B5C7-C4DDA04CC7B7}" type="presParOf" srcId="{B527CC06-4CB0-4BBC-BC59-05B82C63D983}" destId="{54D1DCA8-1207-48EA-84B7-90B9D149FE6B}" srcOrd="0" destOrd="0" presId="urn:microsoft.com/office/officeart/2005/8/layout/hierarchy1"/>
    <dgm:cxn modelId="{54189CE0-AD1F-474F-9623-0EE2E94A860D}" type="presParOf" srcId="{54D1DCA8-1207-48EA-84B7-90B9D149FE6B}" destId="{5FF289FD-E709-4A17-9740-0D38292C3579}" srcOrd="0" destOrd="0" presId="urn:microsoft.com/office/officeart/2005/8/layout/hierarchy1"/>
    <dgm:cxn modelId="{BDE650E0-E075-445D-BF91-D6971B75A493}" type="presParOf" srcId="{54D1DCA8-1207-48EA-84B7-90B9D149FE6B}" destId="{688F4772-989A-4B47-AF11-18D2D5BFC321}" srcOrd="1" destOrd="0" presId="urn:microsoft.com/office/officeart/2005/8/layout/hierarchy1"/>
    <dgm:cxn modelId="{8CDFF8BD-DD5A-4380-ACFF-DBEE2ADFF8DC}" type="presParOf" srcId="{B527CC06-4CB0-4BBC-BC59-05B82C63D983}" destId="{7FD2387A-0693-4AA1-AF41-876420B5B36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75DA1D-D473-45FC-B344-3A4DE0D65D8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7DDAECC-633A-4923-9F92-104AA7C0A685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ru-RU" b="1" dirty="0"/>
            <a:t>Целерациональное</a:t>
          </a:r>
          <a:r>
            <a:rPr lang="ru-RU" dirty="0"/>
            <a:t>: предметы или люди трактуются как средства для достижения собственных рациональных целей</a:t>
          </a:r>
          <a:endParaRPr lang="en-US" dirty="0"/>
        </a:p>
      </dgm:t>
    </dgm:pt>
    <dgm:pt modelId="{5003A9DC-02A2-4C8D-B628-81CA87E3D9D1}" type="parTrans" cxnId="{CD01DBA5-5D16-4839-8606-745639041DBB}">
      <dgm:prSet/>
      <dgm:spPr/>
      <dgm:t>
        <a:bodyPr/>
        <a:lstStyle/>
        <a:p>
          <a:endParaRPr lang="en-US"/>
        </a:p>
      </dgm:t>
    </dgm:pt>
    <dgm:pt modelId="{2B72BF5A-E330-4BB3-AF5B-9141700B82FF}" type="sibTrans" cxnId="{CD01DBA5-5D16-4839-8606-745639041DBB}">
      <dgm:prSet/>
      <dgm:spPr/>
      <dgm:t>
        <a:bodyPr/>
        <a:lstStyle/>
        <a:p>
          <a:endParaRPr lang="en-US"/>
        </a:p>
      </dgm:t>
    </dgm:pt>
    <dgm:pt modelId="{E694BDD0-0215-475D-82CC-CF12D3EA27D0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ru-RU" b="1" dirty="0"/>
            <a:t>Ценностно-рациональное</a:t>
          </a:r>
          <a:r>
            <a:rPr lang="ru-RU" dirty="0"/>
            <a:t>: определяется осознанной верой в ценность определённого действия независимо от его успеха</a:t>
          </a:r>
          <a:endParaRPr lang="en-US" dirty="0"/>
        </a:p>
      </dgm:t>
    </dgm:pt>
    <dgm:pt modelId="{BBA6D652-974F-4789-BD89-2CBC935A64E1}" type="parTrans" cxnId="{F1C8328C-D76C-42BC-A862-D380D66B5257}">
      <dgm:prSet/>
      <dgm:spPr/>
      <dgm:t>
        <a:bodyPr/>
        <a:lstStyle/>
        <a:p>
          <a:endParaRPr lang="en-US"/>
        </a:p>
      </dgm:t>
    </dgm:pt>
    <dgm:pt modelId="{1F2DE77C-2AF4-4A51-826D-58C87F07D77A}" type="sibTrans" cxnId="{F1C8328C-D76C-42BC-A862-D380D66B5257}">
      <dgm:prSet/>
      <dgm:spPr/>
      <dgm:t>
        <a:bodyPr/>
        <a:lstStyle/>
        <a:p>
          <a:endParaRPr lang="en-US"/>
        </a:p>
      </dgm:t>
    </dgm:pt>
    <dgm:pt modelId="{A1182E97-98EF-4FC3-93E4-50382A65FD32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ru-RU" b="1" dirty="0"/>
            <a:t>Аффективное</a:t>
          </a:r>
          <a:r>
            <a:rPr lang="ru-RU" dirty="0"/>
            <a:t>: определяется эмоциональным состоянием человека</a:t>
          </a:r>
          <a:endParaRPr lang="en-US" dirty="0"/>
        </a:p>
      </dgm:t>
    </dgm:pt>
    <dgm:pt modelId="{8C798522-0473-4248-AE80-751FED63F108}" type="parTrans" cxnId="{EE208FCF-D906-419E-9D41-51EBB453C7B3}">
      <dgm:prSet/>
      <dgm:spPr/>
      <dgm:t>
        <a:bodyPr/>
        <a:lstStyle/>
        <a:p>
          <a:endParaRPr lang="en-US"/>
        </a:p>
      </dgm:t>
    </dgm:pt>
    <dgm:pt modelId="{A9AA24A4-A114-458B-BCBE-4BBF8C841EF1}" type="sibTrans" cxnId="{EE208FCF-D906-419E-9D41-51EBB453C7B3}">
      <dgm:prSet/>
      <dgm:spPr/>
      <dgm:t>
        <a:bodyPr/>
        <a:lstStyle/>
        <a:p>
          <a:endParaRPr lang="en-US"/>
        </a:p>
      </dgm:t>
    </dgm:pt>
    <dgm:pt modelId="{E67A33E6-E4ED-43B0-89A5-7905BB6BD505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ru-RU" b="1" dirty="0"/>
            <a:t>Традиционное</a:t>
          </a:r>
          <a:r>
            <a:rPr lang="ru-RU" dirty="0"/>
            <a:t>: определяется традицией или привычкой</a:t>
          </a:r>
          <a:endParaRPr lang="en-US" dirty="0"/>
        </a:p>
      </dgm:t>
    </dgm:pt>
    <dgm:pt modelId="{1BDD4632-B4F7-44D9-B15C-954C903A0CD9}" type="parTrans" cxnId="{BB932A74-FE0A-4FB9-BA26-E04E17576DA7}">
      <dgm:prSet/>
      <dgm:spPr/>
      <dgm:t>
        <a:bodyPr/>
        <a:lstStyle/>
        <a:p>
          <a:endParaRPr lang="en-US"/>
        </a:p>
      </dgm:t>
    </dgm:pt>
    <dgm:pt modelId="{48AEF1C5-AE15-4487-9117-B28BC6CDC13A}" type="sibTrans" cxnId="{BB932A74-FE0A-4FB9-BA26-E04E17576DA7}">
      <dgm:prSet/>
      <dgm:spPr/>
      <dgm:t>
        <a:bodyPr/>
        <a:lstStyle/>
        <a:p>
          <a:endParaRPr lang="en-US"/>
        </a:p>
      </dgm:t>
    </dgm:pt>
    <dgm:pt modelId="{A56A12C4-61C5-4AEC-8AC3-3395D3C4A45C}" type="pres">
      <dgm:prSet presAssocID="{2975DA1D-D473-45FC-B344-3A4DE0D65D81}" presName="root" presStyleCnt="0">
        <dgm:presLayoutVars>
          <dgm:dir/>
          <dgm:resizeHandles val="exact"/>
        </dgm:presLayoutVars>
      </dgm:prSet>
      <dgm:spPr/>
    </dgm:pt>
    <dgm:pt modelId="{059DA0ED-844F-4D5E-B656-00885D43C82F}" type="pres">
      <dgm:prSet presAssocID="{E7DDAECC-633A-4923-9F92-104AA7C0A685}" presName="compNode" presStyleCnt="0"/>
      <dgm:spPr/>
    </dgm:pt>
    <dgm:pt modelId="{4836B1A4-57B3-44CB-9A3C-F699AA7A7035}" type="pres">
      <dgm:prSet presAssocID="{E7DDAECC-633A-4923-9F92-104AA7C0A685}" presName="bgRect" presStyleLbl="bgShp" presStyleIdx="0" presStyleCnt="4"/>
      <dgm:spPr/>
    </dgm:pt>
    <dgm:pt modelId="{3A81271F-B76B-4217-B947-EB9036BC4EA9}" type="pres">
      <dgm:prSet presAssocID="{E7DDAECC-633A-4923-9F92-104AA7C0A68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В яблочко"/>
        </a:ext>
      </dgm:extLst>
    </dgm:pt>
    <dgm:pt modelId="{D398ABD4-83E8-493C-9D12-6F4B4EED62E4}" type="pres">
      <dgm:prSet presAssocID="{E7DDAECC-633A-4923-9F92-104AA7C0A685}" presName="spaceRect" presStyleCnt="0"/>
      <dgm:spPr/>
    </dgm:pt>
    <dgm:pt modelId="{EF8BAED2-5468-421A-AD42-50C825B8186B}" type="pres">
      <dgm:prSet presAssocID="{E7DDAECC-633A-4923-9F92-104AA7C0A685}" presName="parTx" presStyleLbl="revTx" presStyleIdx="0" presStyleCnt="4">
        <dgm:presLayoutVars>
          <dgm:chMax val="0"/>
          <dgm:chPref val="0"/>
        </dgm:presLayoutVars>
      </dgm:prSet>
      <dgm:spPr/>
    </dgm:pt>
    <dgm:pt modelId="{20526E3E-2207-4D6B-A1DB-75550B66B05E}" type="pres">
      <dgm:prSet presAssocID="{2B72BF5A-E330-4BB3-AF5B-9141700B82FF}" presName="sibTrans" presStyleCnt="0"/>
      <dgm:spPr/>
    </dgm:pt>
    <dgm:pt modelId="{F9A865FF-B2C7-4FBA-BC0C-7D7C74B7D007}" type="pres">
      <dgm:prSet presAssocID="{E694BDD0-0215-475D-82CC-CF12D3EA27D0}" presName="compNode" presStyleCnt="0"/>
      <dgm:spPr/>
    </dgm:pt>
    <dgm:pt modelId="{782A1CF1-E3D2-4B4F-96A8-41747B570FD8}" type="pres">
      <dgm:prSet presAssocID="{E694BDD0-0215-475D-82CC-CF12D3EA27D0}" presName="bgRect" presStyleLbl="bgShp" presStyleIdx="1" presStyleCnt="4"/>
      <dgm:spPr/>
    </dgm:pt>
    <dgm:pt modelId="{95595DA7-34CE-471C-8A69-35CC3F20C750}" type="pres">
      <dgm:prSet presAssocID="{E694BDD0-0215-475D-82CC-CF12D3EA27D0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Мозговой штурм со сплошной заливкой"/>
        </a:ext>
      </dgm:extLst>
    </dgm:pt>
    <dgm:pt modelId="{DF74685B-D8F8-433E-B151-AB623AB0C482}" type="pres">
      <dgm:prSet presAssocID="{E694BDD0-0215-475D-82CC-CF12D3EA27D0}" presName="spaceRect" presStyleCnt="0"/>
      <dgm:spPr/>
    </dgm:pt>
    <dgm:pt modelId="{A7CFE725-959A-40FB-9C19-F159D720E42F}" type="pres">
      <dgm:prSet presAssocID="{E694BDD0-0215-475D-82CC-CF12D3EA27D0}" presName="parTx" presStyleLbl="revTx" presStyleIdx="1" presStyleCnt="4">
        <dgm:presLayoutVars>
          <dgm:chMax val="0"/>
          <dgm:chPref val="0"/>
        </dgm:presLayoutVars>
      </dgm:prSet>
      <dgm:spPr/>
    </dgm:pt>
    <dgm:pt modelId="{3830F60C-B07F-405B-A52D-4F17E18891D4}" type="pres">
      <dgm:prSet presAssocID="{1F2DE77C-2AF4-4A51-826D-58C87F07D77A}" presName="sibTrans" presStyleCnt="0"/>
      <dgm:spPr/>
    </dgm:pt>
    <dgm:pt modelId="{6C238F4E-1F14-4063-99D8-7A4D10E0D7E7}" type="pres">
      <dgm:prSet presAssocID="{A1182E97-98EF-4FC3-93E4-50382A65FD32}" presName="compNode" presStyleCnt="0"/>
      <dgm:spPr/>
    </dgm:pt>
    <dgm:pt modelId="{9B45049D-4B27-4CC8-9407-2AF61D020A93}" type="pres">
      <dgm:prSet presAssocID="{A1182E97-98EF-4FC3-93E4-50382A65FD32}" presName="bgRect" presStyleLbl="bgShp" presStyleIdx="2" presStyleCnt="4"/>
      <dgm:spPr/>
    </dgm:pt>
    <dgm:pt modelId="{2EB09102-E0C4-4435-B8CA-BBBAD3671290}" type="pres">
      <dgm:prSet presAssocID="{A1182E97-98EF-4FC3-93E4-50382A65FD32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Ангельское лицо со сплошной заливкой со сплошной заливкой"/>
        </a:ext>
      </dgm:extLst>
    </dgm:pt>
    <dgm:pt modelId="{B79080E4-5350-4125-A946-092E3D041ED7}" type="pres">
      <dgm:prSet presAssocID="{A1182E97-98EF-4FC3-93E4-50382A65FD32}" presName="spaceRect" presStyleCnt="0"/>
      <dgm:spPr/>
    </dgm:pt>
    <dgm:pt modelId="{AFCD2568-82C2-4DE4-8E5B-9251B1AD69E5}" type="pres">
      <dgm:prSet presAssocID="{A1182E97-98EF-4FC3-93E4-50382A65FD32}" presName="parTx" presStyleLbl="revTx" presStyleIdx="2" presStyleCnt="4">
        <dgm:presLayoutVars>
          <dgm:chMax val="0"/>
          <dgm:chPref val="0"/>
        </dgm:presLayoutVars>
      </dgm:prSet>
      <dgm:spPr/>
    </dgm:pt>
    <dgm:pt modelId="{0ED38F96-7CB2-4EEF-B393-7B7993A4AA9D}" type="pres">
      <dgm:prSet presAssocID="{A9AA24A4-A114-458B-BCBE-4BBF8C841EF1}" presName="sibTrans" presStyleCnt="0"/>
      <dgm:spPr/>
    </dgm:pt>
    <dgm:pt modelId="{D62F4E14-67D3-4F44-89E9-CD9279032D03}" type="pres">
      <dgm:prSet presAssocID="{E67A33E6-E4ED-43B0-89A5-7905BB6BD505}" presName="compNode" presStyleCnt="0"/>
      <dgm:spPr/>
    </dgm:pt>
    <dgm:pt modelId="{E360E610-1921-4F00-8F90-0A0206E80ACF}" type="pres">
      <dgm:prSet presAssocID="{E67A33E6-E4ED-43B0-89A5-7905BB6BD505}" presName="bgRect" presStyleLbl="bgShp" presStyleIdx="3" presStyleCnt="4"/>
      <dgm:spPr/>
    </dgm:pt>
    <dgm:pt modelId="{80304FED-2F87-48F8-B687-13C5A4AE6BD3}" type="pres">
      <dgm:prSet presAssocID="{E67A33E6-E4ED-43B0-89A5-7905BB6BD505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Группа людей со сплошной заливкой"/>
        </a:ext>
      </dgm:extLst>
    </dgm:pt>
    <dgm:pt modelId="{678B5594-7629-4D07-920A-50534460EE51}" type="pres">
      <dgm:prSet presAssocID="{E67A33E6-E4ED-43B0-89A5-7905BB6BD505}" presName="spaceRect" presStyleCnt="0"/>
      <dgm:spPr/>
    </dgm:pt>
    <dgm:pt modelId="{4ECE00EB-BDF7-4570-BEEB-C5D69E2BA0E9}" type="pres">
      <dgm:prSet presAssocID="{E67A33E6-E4ED-43B0-89A5-7905BB6BD50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9F82B6A-C0D1-4F55-B0CB-75FF52E39A09}" type="presOf" srcId="{E7DDAECC-633A-4923-9F92-104AA7C0A685}" destId="{EF8BAED2-5468-421A-AD42-50C825B8186B}" srcOrd="0" destOrd="0" presId="urn:microsoft.com/office/officeart/2018/2/layout/IconVerticalSolidList"/>
    <dgm:cxn modelId="{AF63E571-6505-4D4A-9D0F-CF9CAFE04F15}" type="presOf" srcId="{E67A33E6-E4ED-43B0-89A5-7905BB6BD505}" destId="{4ECE00EB-BDF7-4570-BEEB-C5D69E2BA0E9}" srcOrd="0" destOrd="0" presId="urn:microsoft.com/office/officeart/2018/2/layout/IconVerticalSolidList"/>
    <dgm:cxn modelId="{BB932A74-FE0A-4FB9-BA26-E04E17576DA7}" srcId="{2975DA1D-D473-45FC-B344-3A4DE0D65D81}" destId="{E67A33E6-E4ED-43B0-89A5-7905BB6BD505}" srcOrd="3" destOrd="0" parTransId="{1BDD4632-B4F7-44D9-B15C-954C903A0CD9}" sibTransId="{48AEF1C5-AE15-4487-9117-B28BC6CDC13A}"/>
    <dgm:cxn modelId="{60182480-2501-4B32-B5A2-5972DF0145B3}" type="presOf" srcId="{2975DA1D-D473-45FC-B344-3A4DE0D65D81}" destId="{A56A12C4-61C5-4AEC-8AC3-3395D3C4A45C}" srcOrd="0" destOrd="0" presId="urn:microsoft.com/office/officeart/2018/2/layout/IconVerticalSolidList"/>
    <dgm:cxn modelId="{F1C8328C-D76C-42BC-A862-D380D66B5257}" srcId="{2975DA1D-D473-45FC-B344-3A4DE0D65D81}" destId="{E694BDD0-0215-475D-82CC-CF12D3EA27D0}" srcOrd="1" destOrd="0" parTransId="{BBA6D652-974F-4789-BD89-2CBC935A64E1}" sibTransId="{1F2DE77C-2AF4-4A51-826D-58C87F07D77A}"/>
    <dgm:cxn modelId="{CD01DBA5-5D16-4839-8606-745639041DBB}" srcId="{2975DA1D-D473-45FC-B344-3A4DE0D65D81}" destId="{E7DDAECC-633A-4923-9F92-104AA7C0A685}" srcOrd="0" destOrd="0" parTransId="{5003A9DC-02A2-4C8D-B628-81CA87E3D9D1}" sibTransId="{2B72BF5A-E330-4BB3-AF5B-9141700B82FF}"/>
    <dgm:cxn modelId="{0D711CAE-B4F5-49D9-A0ED-A760B874B3A4}" type="presOf" srcId="{E694BDD0-0215-475D-82CC-CF12D3EA27D0}" destId="{A7CFE725-959A-40FB-9C19-F159D720E42F}" srcOrd="0" destOrd="0" presId="urn:microsoft.com/office/officeart/2018/2/layout/IconVerticalSolidList"/>
    <dgm:cxn modelId="{EE208FCF-D906-419E-9D41-51EBB453C7B3}" srcId="{2975DA1D-D473-45FC-B344-3A4DE0D65D81}" destId="{A1182E97-98EF-4FC3-93E4-50382A65FD32}" srcOrd="2" destOrd="0" parTransId="{8C798522-0473-4248-AE80-751FED63F108}" sibTransId="{A9AA24A4-A114-458B-BCBE-4BBF8C841EF1}"/>
    <dgm:cxn modelId="{C56957D8-E405-41F0-BC39-A6BDAE503E7B}" type="presOf" srcId="{A1182E97-98EF-4FC3-93E4-50382A65FD32}" destId="{AFCD2568-82C2-4DE4-8E5B-9251B1AD69E5}" srcOrd="0" destOrd="0" presId="urn:microsoft.com/office/officeart/2018/2/layout/IconVerticalSolidList"/>
    <dgm:cxn modelId="{A025FA38-EAB7-4DAE-BFC5-587470589612}" type="presParOf" srcId="{A56A12C4-61C5-4AEC-8AC3-3395D3C4A45C}" destId="{059DA0ED-844F-4D5E-B656-00885D43C82F}" srcOrd="0" destOrd="0" presId="urn:microsoft.com/office/officeart/2018/2/layout/IconVerticalSolidList"/>
    <dgm:cxn modelId="{8ED75595-DD6E-4249-87F5-09FDD572C961}" type="presParOf" srcId="{059DA0ED-844F-4D5E-B656-00885D43C82F}" destId="{4836B1A4-57B3-44CB-9A3C-F699AA7A7035}" srcOrd="0" destOrd="0" presId="urn:microsoft.com/office/officeart/2018/2/layout/IconVerticalSolidList"/>
    <dgm:cxn modelId="{B7D4BF0B-67AD-4FA8-8E43-0551B2BB1BC7}" type="presParOf" srcId="{059DA0ED-844F-4D5E-B656-00885D43C82F}" destId="{3A81271F-B76B-4217-B947-EB9036BC4EA9}" srcOrd="1" destOrd="0" presId="urn:microsoft.com/office/officeart/2018/2/layout/IconVerticalSolidList"/>
    <dgm:cxn modelId="{33ADB265-CABA-41CA-915B-36E3D34DA81D}" type="presParOf" srcId="{059DA0ED-844F-4D5E-B656-00885D43C82F}" destId="{D398ABD4-83E8-493C-9D12-6F4B4EED62E4}" srcOrd="2" destOrd="0" presId="urn:microsoft.com/office/officeart/2018/2/layout/IconVerticalSolidList"/>
    <dgm:cxn modelId="{143EF4B5-8820-45D2-BC5C-FAB64A7A8DEF}" type="presParOf" srcId="{059DA0ED-844F-4D5E-B656-00885D43C82F}" destId="{EF8BAED2-5468-421A-AD42-50C825B8186B}" srcOrd="3" destOrd="0" presId="urn:microsoft.com/office/officeart/2018/2/layout/IconVerticalSolidList"/>
    <dgm:cxn modelId="{44A201F4-641B-4DBE-A792-17BEC1A51C46}" type="presParOf" srcId="{A56A12C4-61C5-4AEC-8AC3-3395D3C4A45C}" destId="{20526E3E-2207-4D6B-A1DB-75550B66B05E}" srcOrd="1" destOrd="0" presId="urn:microsoft.com/office/officeart/2018/2/layout/IconVerticalSolidList"/>
    <dgm:cxn modelId="{08682100-FD40-4C76-9284-E9E603D3BC11}" type="presParOf" srcId="{A56A12C4-61C5-4AEC-8AC3-3395D3C4A45C}" destId="{F9A865FF-B2C7-4FBA-BC0C-7D7C74B7D007}" srcOrd="2" destOrd="0" presId="urn:microsoft.com/office/officeart/2018/2/layout/IconVerticalSolidList"/>
    <dgm:cxn modelId="{C6DEC7FC-6442-4036-A4DF-64D2A3C246FD}" type="presParOf" srcId="{F9A865FF-B2C7-4FBA-BC0C-7D7C74B7D007}" destId="{782A1CF1-E3D2-4B4F-96A8-41747B570FD8}" srcOrd="0" destOrd="0" presId="urn:microsoft.com/office/officeart/2018/2/layout/IconVerticalSolidList"/>
    <dgm:cxn modelId="{469441CE-05E4-44B0-9D60-F96FECE4086C}" type="presParOf" srcId="{F9A865FF-B2C7-4FBA-BC0C-7D7C74B7D007}" destId="{95595DA7-34CE-471C-8A69-35CC3F20C750}" srcOrd="1" destOrd="0" presId="urn:microsoft.com/office/officeart/2018/2/layout/IconVerticalSolidList"/>
    <dgm:cxn modelId="{9E380213-5ADE-4E85-9BFB-F7336C514D21}" type="presParOf" srcId="{F9A865FF-B2C7-4FBA-BC0C-7D7C74B7D007}" destId="{DF74685B-D8F8-433E-B151-AB623AB0C482}" srcOrd="2" destOrd="0" presId="urn:microsoft.com/office/officeart/2018/2/layout/IconVerticalSolidList"/>
    <dgm:cxn modelId="{A68DC975-5506-4BED-954D-85CBCD3A4DD2}" type="presParOf" srcId="{F9A865FF-B2C7-4FBA-BC0C-7D7C74B7D007}" destId="{A7CFE725-959A-40FB-9C19-F159D720E42F}" srcOrd="3" destOrd="0" presId="urn:microsoft.com/office/officeart/2018/2/layout/IconVerticalSolidList"/>
    <dgm:cxn modelId="{CD55CB93-929B-4961-9D32-5EC49960CB1E}" type="presParOf" srcId="{A56A12C4-61C5-4AEC-8AC3-3395D3C4A45C}" destId="{3830F60C-B07F-405B-A52D-4F17E18891D4}" srcOrd="3" destOrd="0" presId="urn:microsoft.com/office/officeart/2018/2/layout/IconVerticalSolidList"/>
    <dgm:cxn modelId="{9ED30224-268E-4ABD-B3B6-6BF5278504A5}" type="presParOf" srcId="{A56A12C4-61C5-4AEC-8AC3-3395D3C4A45C}" destId="{6C238F4E-1F14-4063-99D8-7A4D10E0D7E7}" srcOrd="4" destOrd="0" presId="urn:microsoft.com/office/officeart/2018/2/layout/IconVerticalSolidList"/>
    <dgm:cxn modelId="{6D488537-E166-4F02-9729-72DE3BFA8014}" type="presParOf" srcId="{6C238F4E-1F14-4063-99D8-7A4D10E0D7E7}" destId="{9B45049D-4B27-4CC8-9407-2AF61D020A93}" srcOrd="0" destOrd="0" presId="urn:microsoft.com/office/officeart/2018/2/layout/IconVerticalSolidList"/>
    <dgm:cxn modelId="{36C8FC06-57A5-4367-A66C-CB7B050A4DD8}" type="presParOf" srcId="{6C238F4E-1F14-4063-99D8-7A4D10E0D7E7}" destId="{2EB09102-E0C4-4435-B8CA-BBBAD3671290}" srcOrd="1" destOrd="0" presId="urn:microsoft.com/office/officeart/2018/2/layout/IconVerticalSolidList"/>
    <dgm:cxn modelId="{ACBD9A5D-053F-44F0-9CE4-9E3F5E775A74}" type="presParOf" srcId="{6C238F4E-1F14-4063-99D8-7A4D10E0D7E7}" destId="{B79080E4-5350-4125-A946-092E3D041ED7}" srcOrd="2" destOrd="0" presId="urn:microsoft.com/office/officeart/2018/2/layout/IconVerticalSolidList"/>
    <dgm:cxn modelId="{0352DF75-8E4D-493D-9E1C-61F04B9C9A9E}" type="presParOf" srcId="{6C238F4E-1F14-4063-99D8-7A4D10E0D7E7}" destId="{AFCD2568-82C2-4DE4-8E5B-9251B1AD69E5}" srcOrd="3" destOrd="0" presId="urn:microsoft.com/office/officeart/2018/2/layout/IconVerticalSolidList"/>
    <dgm:cxn modelId="{26BBA2D9-E787-4965-BF3B-B55299DC4AC8}" type="presParOf" srcId="{A56A12C4-61C5-4AEC-8AC3-3395D3C4A45C}" destId="{0ED38F96-7CB2-4EEF-B393-7B7993A4AA9D}" srcOrd="5" destOrd="0" presId="urn:microsoft.com/office/officeart/2018/2/layout/IconVerticalSolidList"/>
    <dgm:cxn modelId="{0D0C50E1-A7F5-4730-89EF-5AE1278CB01A}" type="presParOf" srcId="{A56A12C4-61C5-4AEC-8AC3-3395D3C4A45C}" destId="{D62F4E14-67D3-4F44-89E9-CD9279032D03}" srcOrd="6" destOrd="0" presId="urn:microsoft.com/office/officeart/2018/2/layout/IconVerticalSolidList"/>
    <dgm:cxn modelId="{42367997-F610-443D-90D1-3ACA41799098}" type="presParOf" srcId="{D62F4E14-67D3-4F44-89E9-CD9279032D03}" destId="{E360E610-1921-4F00-8F90-0A0206E80ACF}" srcOrd="0" destOrd="0" presId="urn:microsoft.com/office/officeart/2018/2/layout/IconVerticalSolidList"/>
    <dgm:cxn modelId="{0EF6FC77-1DA2-43B9-9459-7396F6EB2B32}" type="presParOf" srcId="{D62F4E14-67D3-4F44-89E9-CD9279032D03}" destId="{80304FED-2F87-48F8-B687-13C5A4AE6BD3}" srcOrd="1" destOrd="0" presId="urn:microsoft.com/office/officeart/2018/2/layout/IconVerticalSolidList"/>
    <dgm:cxn modelId="{A427851B-8D84-4172-9BE8-6A1CB5C05928}" type="presParOf" srcId="{D62F4E14-67D3-4F44-89E9-CD9279032D03}" destId="{678B5594-7629-4D07-920A-50534460EE51}" srcOrd="2" destOrd="0" presId="urn:microsoft.com/office/officeart/2018/2/layout/IconVerticalSolidList"/>
    <dgm:cxn modelId="{D29D862F-59CF-44C1-84E8-42DA9A0DFA7F}" type="presParOf" srcId="{D62F4E14-67D3-4F44-89E9-CD9279032D03}" destId="{4ECE00EB-BDF7-4570-BEEB-C5D69E2BA0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30BFB1-3FD1-448B-B674-B6CA7D9329C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25B19E-3B61-41DB-BDC2-67734410CAC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ru-RU" sz="2000" dirty="0"/>
            <a:t>Концепция Вебера подчёркивает необходимость учитывать мотивы и ценности людей. Социальные процессы невозможно полностью объяснить, не принимая во внимание человеческие представления, убеждения и ожидания</a:t>
          </a:r>
          <a:endParaRPr lang="en-US" sz="2000" dirty="0"/>
        </a:p>
      </dgm:t>
    </dgm:pt>
    <dgm:pt modelId="{F4D38A9D-4300-4E95-B514-5BB2F60D669D}" type="parTrans" cxnId="{B06AE47D-FA3D-4500-8FB2-242103B95740}">
      <dgm:prSet/>
      <dgm:spPr/>
      <dgm:t>
        <a:bodyPr/>
        <a:lstStyle/>
        <a:p>
          <a:endParaRPr lang="en-US"/>
        </a:p>
      </dgm:t>
    </dgm:pt>
    <dgm:pt modelId="{41F988C6-B13F-4165-AC2E-C45350DCABC7}" type="sibTrans" cxnId="{B06AE47D-FA3D-4500-8FB2-242103B95740}">
      <dgm:prSet/>
      <dgm:spPr/>
      <dgm:t>
        <a:bodyPr/>
        <a:lstStyle/>
        <a:p>
          <a:endParaRPr lang="en-US"/>
        </a:p>
      </dgm:t>
    </dgm:pt>
    <dgm:pt modelId="{61B4ED6E-0E5F-432F-BF28-5586E7283E7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ru-RU" sz="2000" dirty="0"/>
            <a:t>Вебер предложил методологические инструменты, которые помогают изучать сложные общественные явления. Понимающая социология используется для анализа организаций, социальных групп, политических институтов и культурных различий</a:t>
          </a:r>
          <a:endParaRPr lang="en-US" sz="2000" dirty="0"/>
        </a:p>
      </dgm:t>
    </dgm:pt>
    <dgm:pt modelId="{993FB693-94CF-4234-A510-47C75250E6E2}" type="parTrans" cxnId="{7C51C870-4E2A-4ABF-900D-C58B48A31B40}">
      <dgm:prSet/>
      <dgm:spPr/>
      <dgm:t>
        <a:bodyPr/>
        <a:lstStyle/>
        <a:p>
          <a:endParaRPr lang="en-US"/>
        </a:p>
      </dgm:t>
    </dgm:pt>
    <dgm:pt modelId="{BB71E3C2-43BD-4EF0-84C0-DF8E560CC12D}" type="sibTrans" cxnId="{7C51C870-4E2A-4ABF-900D-C58B48A31B40}">
      <dgm:prSet/>
      <dgm:spPr/>
      <dgm:t>
        <a:bodyPr/>
        <a:lstStyle/>
        <a:p>
          <a:endParaRPr lang="en-US"/>
        </a:p>
      </dgm:t>
    </dgm:pt>
    <dgm:pt modelId="{93D69793-1B43-4A51-960D-B0A203C7B1D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ru-RU" sz="2000" dirty="0"/>
            <a:t>Его исследование рационализации позволяет критически оценивать современные бюрократические системы. Оно помогает понять, почему формально эффективные организации иногда оказываются негибкими и почему соблюдение правил не всегда приводит к наилучшему результату</a:t>
          </a:r>
          <a:endParaRPr lang="en-US" sz="2000" dirty="0"/>
        </a:p>
      </dgm:t>
    </dgm:pt>
    <dgm:pt modelId="{01E1AC79-BEAC-4E32-9E3A-62FB8CE78112}" type="parTrans" cxnId="{158C88C0-6C00-45DC-81A7-A20F19E61293}">
      <dgm:prSet/>
      <dgm:spPr/>
      <dgm:t>
        <a:bodyPr/>
        <a:lstStyle/>
        <a:p>
          <a:endParaRPr lang="en-US"/>
        </a:p>
      </dgm:t>
    </dgm:pt>
    <dgm:pt modelId="{FD6BA0B9-17DB-4A16-8452-0F0E9857E82F}" type="sibTrans" cxnId="{158C88C0-6C00-45DC-81A7-A20F19E61293}">
      <dgm:prSet/>
      <dgm:spPr/>
      <dgm:t>
        <a:bodyPr/>
        <a:lstStyle/>
        <a:p>
          <a:endParaRPr lang="en-US"/>
        </a:p>
      </dgm:t>
    </dgm:pt>
    <dgm:pt modelId="{07C434D2-6558-4038-90F1-2ACC6DDC5D0E}" type="pres">
      <dgm:prSet presAssocID="{2430BFB1-3FD1-448B-B674-B6CA7D9329CA}" presName="root" presStyleCnt="0">
        <dgm:presLayoutVars>
          <dgm:dir/>
          <dgm:resizeHandles val="exact"/>
        </dgm:presLayoutVars>
      </dgm:prSet>
      <dgm:spPr/>
    </dgm:pt>
    <dgm:pt modelId="{F15C874F-423A-4A08-AF1D-AF4A9C87CB65}" type="pres">
      <dgm:prSet presAssocID="{3F25B19E-3B61-41DB-BDC2-67734410CACD}" presName="compNode" presStyleCnt="0"/>
      <dgm:spPr/>
    </dgm:pt>
    <dgm:pt modelId="{CE02D79F-0E45-4E7D-A9E2-E3A36A5E3E42}" type="pres">
      <dgm:prSet presAssocID="{3F25B19E-3B61-41DB-BDC2-67734410CACD}" presName="bgRect" presStyleLbl="bgShp" presStyleIdx="0" presStyleCnt="3"/>
      <dgm:spPr/>
    </dgm:pt>
    <dgm:pt modelId="{C44D0978-DA84-46C3-8EC2-755A3E231E3A}" type="pres">
      <dgm:prSet presAssocID="{3F25B19E-3B61-41DB-BDC2-67734410CAC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8A19B3E-012D-40C8-AEC1-6D203C1523EF}" type="pres">
      <dgm:prSet presAssocID="{3F25B19E-3B61-41DB-BDC2-67734410CACD}" presName="spaceRect" presStyleCnt="0"/>
      <dgm:spPr/>
    </dgm:pt>
    <dgm:pt modelId="{3EB26D4B-8688-4747-8D0E-BAB47F496E06}" type="pres">
      <dgm:prSet presAssocID="{3F25B19E-3B61-41DB-BDC2-67734410CACD}" presName="parTx" presStyleLbl="revTx" presStyleIdx="0" presStyleCnt="3">
        <dgm:presLayoutVars>
          <dgm:chMax val="0"/>
          <dgm:chPref val="0"/>
        </dgm:presLayoutVars>
      </dgm:prSet>
      <dgm:spPr/>
    </dgm:pt>
    <dgm:pt modelId="{79FB2D65-AE55-4EDA-8D8C-E9CC72936CCD}" type="pres">
      <dgm:prSet presAssocID="{41F988C6-B13F-4165-AC2E-C45350DCABC7}" presName="sibTrans" presStyleCnt="0"/>
      <dgm:spPr/>
    </dgm:pt>
    <dgm:pt modelId="{8645A38B-04F7-4EE8-9016-4607AAD89A9D}" type="pres">
      <dgm:prSet presAssocID="{61B4ED6E-0E5F-432F-BF28-5586E7283E74}" presName="compNode" presStyleCnt="0"/>
      <dgm:spPr/>
    </dgm:pt>
    <dgm:pt modelId="{B08D18C1-AFBF-44FC-9186-3C168EA7AAC4}" type="pres">
      <dgm:prSet presAssocID="{61B4ED6E-0E5F-432F-BF28-5586E7283E74}" presName="bgRect" presStyleLbl="bgShp" presStyleIdx="1" presStyleCnt="3"/>
      <dgm:spPr/>
    </dgm:pt>
    <dgm:pt modelId="{8A0DCF8F-F306-4FAD-A531-E566ECDEFBFD}" type="pres">
      <dgm:prSet presAssocID="{61B4ED6E-0E5F-432F-BF28-5586E7283E7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B7FDA92E-459B-4815-86BD-0C5A4F0A9AF6}" type="pres">
      <dgm:prSet presAssocID="{61B4ED6E-0E5F-432F-BF28-5586E7283E74}" presName="spaceRect" presStyleCnt="0"/>
      <dgm:spPr/>
    </dgm:pt>
    <dgm:pt modelId="{AB4B5CBE-4801-449F-A8B4-9EFE2318800D}" type="pres">
      <dgm:prSet presAssocID="{61B4ED6E-0E5F-432F-BF28-5586E7283E74}" presName="parTx" presStyleLbl="revTx" presStyleIdx="1" presStyleCnt="3">
        <dgm:presLayoutVars>
          <dgm:chMax val="0"/>
          <dgm:chPref val="0"/>
        </dgm:presLayoutVars>
      </dgm:prSet>
      <dgm:spPr/>
    </dgm:pt>
    <dgm:pt modelId="{6FD7E800-F25D-480C-B01C-CA6F90DBF26D}" type="pres">
      <dgm:prSet presAssocID="{BB71E3C2-43BD-4EF0-84C0-DF8E560CC12D}" presName="sibTrans" presStyleCnt="0"/>
      <dgm:spPr/>
    </dgm:pt>
    <dgm:pt modelId="{9FC2D35B-FD22-4F33-9CC0-A4D5ACF4F6DE}" type="pres">
      <dgm:prSet presAssocID="{93D69793-1B43-4A51-960D-B0A203C7B1D3}" presName="compNode" presStyleCnt="0"/>
      <dgm:spPr/>
    </dgm:pt>
    <dgm:pt modelId="{C50C6727-2AE4-4944-ADA6-ADC1F4225095}" type="pres">
      <dgm:prSet presAssocID="{93D69793-1B43-4A51-960D-B0A203C7B1D3}" presName="bgRect" presStyleLbl="bgShp" presStyleIdx="2" presStyleCnt="3"/>
      <dgm:spPr/>
    </dgm:pt>
    <dgm:pt modelId="{2AD85EAF-6524-4137-939C-97E3E3124903}" type="pres">
      <dgm:prSet presAssocID="{93D69793-1B43-4A51-960D-B0A203C7B1D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C30C30C6-033C-46A5-88EB-5A7E27E0EDAF}" type="pres">
      <dgm:prSet presAssocID="{93D69793-1B43-4A51-960D-B0A203C7B1D3}" presName="spaceRect" presStyleCnt="0"/>
      <dgm:spPr/>
    </dgm:pt>
    <dgm:pt modelId="{02E4B787-F38B-421A-B5A5-87F4469F4CE5}" type="pres">
      <dgm:prSet presAssocID="{93D69793-1B43-4A51-960D-B0A203C7B1D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21E42D-6D1C-4F2B-8148-B73087325C7C}" type="presOf" srcId="{2430BFB1-3FD1-448B-B674-B6CA7D9329CA}" destId="{07C434D2-6558-4038-90F1-2ACC6DDC5D0E}" srcOrd="0" destOrd="0" presId="urn:microsoft.com/office/officeart/2018/2/layout/IconVerticalSolidList"/>
    <dgm:cxn modelId="{6BE8153C-D04C-4C2A-9EF9-184D8B34C1AC}" type="presOf" srcId="{61B4ED6E-0E5F-432F-BF28-5586E7283E74}" destId="{AB4B5CBE-4801-449F-A8B4-9EFE2318800D}" srcOrd="0" destOrd="0" presId="urn:microsoft.com/office/officeart/2018/2/layout/IconVerticalSolidList"/>
    <dgm:cxn modelId="{7C51C870-4E2A-4ABF-900D-C58B48A31B40}" srcId="{2430BFB1-3FD1-448B-B674-B6CA7D9329CA}" destId="{61B4ED6E-0E5F-432F-BF28-5586E7283E74}" srcOrd="1" destOrd="0" parTransId="{993FB693-94CF-4234-A510-47C75250E6E2}" sibTransId="{BB71E3C2-43BD-4EF0-84C0-DF8E560CC12D}"/>
    <dgm:cxn modelId="{B06AE47D-FA3D-4500-8FB2-242103B95740}" srcId="{2430BFB1-3FD1-448B-B674-B6CA7D9329CA}" destId="{3F25B19E-3B61-41DB-BDC2-67734410CACD}" srcOrd="0" destOrd="0" parTransId="{F4D38A9D-4300-4E95-B514-5BB2F60D669D}" sibTransId="{41F988C6-B13F-4165-AC2E-C45350DCABC7}"/>
    <dgm:cxn modelId="{158C88C0-6C00-45DC-81A7-A20F19E61293}" srcId="{2430BFB1-3FD1-448B-B674-B6CA7D9329CA}" destId="{93D69793-1B43-4A51-960D-B0A203C7B1D3}" srcOrd="2" destOrd="0" parTransId="{01E1AC79-BEAC-4E32-9E3A-62FB8CE78112}" sibTransId="{FD6BA0B9-17DB-4A16-8452-0F0E9857E82F}"/>
    <dgm:cxn modelId="{D4AD20D5-EDCE-477A-A033-556FC98A38FB}" type="presOf" srcId="{93D69793-1B43-4A51-960D-B0A203C7B1D3}" destId="{02E4B787-F38B-421A-B5A5-87F4469F4CE5}" srcOrd="0" destOrd="0" presId="urn:microsoft.com/office/officeart/2018/2/layout/IconVerticalSolidList"/>
    <dgm:cxn modelId="{E40D33EF-8955-4160-9DD3-600E2C35AE8C}" type="presOf" srcId="{3F25B19E-3B61-41DB-BDC2-67734410CACD}" destId="{3EB26D4B-8688-4747-8D0E-BAB47F496E06}" srcOrd="0" destOrd="0" presId="urn:microsoft.com/office/officeart/2018/2/layout/IconVerticalSolidList"/>
    <dgm:cxn modelId="{B9233CF8-D603-4B50-BEF7-CCBFF6B35C46}" type="presParOf" srcId="{07C434D2-6558-4038-90F1-2ACC6DDC5D0E}" destId="{F15C874F-423A-4A08-AF1D-AF4A9C87CB65}" srcOrd="0" destOrd="0" presId="urn:microsoft.com/office/officeart/2018/2/layout/IconVerticalSolidList"/>
    <dgm:cxn modelId="{E26DA039-1B01-4EDF-A6D6-804726B5349E}" type="presParOf" srcId="{F15C874F-423A-4A08-AF1D-AF4A9C87CB65}" destId="{CE02D79F-0E45-4E7D-A9E2-E3A36A5E3E42}" srcOrd="0" destOrd="0" presId="urn:microsoft.com/office/officeart/2018/2/layout/IconVerticalSolidList"/>
    <dgm:cxn modelId="{7D12F1A5-2DFE-4D44-8EFF-A8125A4BD477}" type="presParOf" srcId="{F15C874F-423A-4A08-AF1D-AF4A9C87CB65}" destId="{C44D0978-DA84-46C3-8EC2-755A3E231E3A}" srcOrd="1" destOrd="0" presId="urn:microsoft.com/office/officeart/2018/2/layout/IconVerticalSolidList"/>
    <dgm:cxn modelId="{8294621A-8D7A-4C2D-9C70-C7D56710769C}" type="presParOf" srcId="{F15C874F-423A-4A08-AF1D-AF4A9C87CB65}" destId="{18A19B3E-012D-40C8-AEC1-6D203C1523EF}" srcOrd="2" destOrd="0" presId="urn:microsoft.com/office/officeart/2018/2/layout/IconVerticalSolidList"/>
    <dgm:cxn modelId="{9166A6E3-F348-4160-A252-30DAAE5EC07F}" type="presParOf" srcId="{F15C874F-423A-4A08-AF1D-AF4A9C87CB65}" destId="{3EB26D4B-8688-4747-8D0E-BAB47F496E06}" srcOrd="3" destOrd="0" presId="urn:microsoft.com/office/officeart/2018/2/layout/IconVerticalSolidList"/>
    <dgm:cxn modelId="{DA1EEA83-503A-4653-BD44-84D0D1DA105F}" type="presParOf" srcId="{07C434D2-6558-4038-90F1-2ACC6DDC5D0E}" destId="{79FB2D65-AE55-4EDA-8D8C-E9CC72936CCD}" srcOrd="1" destOrd="0" presId="urn:microsoft.com/office/officeart/2018/2/layout/IconVerticalSolidList"/>
    <dgm:cxn modelId="{9DB9C2DD-C7FB-4091-B162-31EA0D316539}" type="presParOf" srcId="{07C434D2-6558-4038-90F1-2ACC6DDC5D0E}" destId="{8645A38B-04F7-4EE8-9016-4607AAD89A9D}" srcOrd="2" destOrd="0" presId="urn:microsoft.com/office/officeart/2018/2/layout/IconVerticalSolidList"/>
    <dgm:cxn modelId="{788B68E0-0229-4D7E-AF37-464AF9BF4DF1}" type="presParOf" srcId="{8645A38B-04F7-4EE8-9016-4607AAD89A9D}" destId="{B08D18C1-AFBF-44FC-9186-3C168EA7AAC4}" srcOrd="0" destOrd="0" presId="urn:microsoft.com/office/officeart/2018/2/layout/IconVerticalSolidList"/>
    <dgm:cxn modelId="{E912024C-9E1D-42D9-B973-203F637138FA}" type="presParOf" srcId="{8645A38B-04F7-4EE8-9016-4607AAD89A9D}" destId="{8A0DCF8F-F306-4FAD-A531-E566ECDEFBFD}" srcOrd="1" destOrd="0" presId="urn:microsoft.com/office/officeart/2018/2/layout/IconVerticalSolidList"/>
    <dgm:cxn modelId="{E48DD4C5-52F8-43D1-BC81-8EA23D74777C}" type="presParOf" srcId="{8645A38B-04F7-4EE8-9016-4607AAD89A9D}" destId="{B7FDA92E-459B-4815-86BD-0C5A4F0A9AF6}" srcOrd="2" destOrd="0" presId="urn:microsoft.com/office/officeart/2018/2/layout/IconVerticalSolidList"/>
    <dgm:cxn modelId="{5F59B4DD-E7CD-492F-A90B-D0095759698D}" type="presParOf" srcId="{8645A38B-04F7-4EE8-9016-4607AAD89A9D}" destId="{AB4B5CBE-4801-449F-A8B4-9EFE2318800D}" srcOrd="3" destOrd="0" presId="urn:microsoft.com/office/officeart/2018/2/layout/IconVerticalSolidList"/>
    <dgm:cxn modelId="{AEA0D3ED-492A-41C2-A05E-F730E01FFDE7}" type="presParOf" srcId="{07C434D2-6558-4038-90F1-2ACC6DDC5D0E}" destId="{6FD7E800-F25D-480C-B01C-CA6F90DBF26D}" srcOrd="3" destOrd="0" presId="urn:microsoft.com/office/officeart/2018/2/layout/IconVerticalSolidList"/>
    <dgm:cxn modelId="{C0845D52-93DA-432F-98E8-9D0D8BFE9823}" type="presParOf" srcId="{07C434D2-6558-4038-90F1-2ACC6DDC5D0E}" destId="{9FC2D35B-FD22-4F33-9CC0-A4D5ACF4F6DE}" srcOrd="4" destOrd="0" presId="urn:microsoft.com/office/officeart/2018/2/layout/IconVerticalSolidList"/>
    <dgm:cxn modelId="{B61E6287-CED5-4573-B4E5-1B0A1018D965}" type="presParOf" srcId="{9FC2D35B-FD22-4F33-9CC0-A4D5ACF4F6DE}" destId="{C50C6727-2AE4-4944-ADA6-ADC1F4225095}" srcOrd="0" destOrd="0" presId="urn:microsoft.com/office/officeart/2018/2/layout/IconVerticalSolidList"/>
    <dgm:cxn modelId="{4333EC35-D986-4762-98BB-2337022F650D}" type="presParOf" srcId="{9FC2D35B-FD22-4F33-9CC0-A4D5ACF4F6DE}" destId="{2AD85EAF-6524-4137-939C-97E3E3124903}" srcOrd="1" destOrd="0" presId="urn:microsoft.com/office/officeart/2018/2/layout/IconVerticalSolidList"/>
    <dgm:cxn modelId="{75F65EA6-7BFF-4DE1-9746-7AA1EB2B9559}" type="presParOf" srcId="{9FC2D35B-FD22-4F33-9CC0-A4D5ACF4F6DE}" destId="{C30C30C6-033C-46A5-88EB-5A7E27E0EDAF}" srcOrd="2" destOrd="0" presId="urn:microsoft.com/office/officeart/2018/2/layout/IconVerticalSolidList"/>
    <dgm:cxn modelId="{C74F647C-E8D6-4B72-9F14-8B615C1AA2F6}" type="presParOf" srcId="{9FC2D35B-FD22-4F33-9CC0-A4D5ACF4F6DE}" destId="{02E4B787-F38B-421A-B5A5-87F4469F4C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97C69-0F05-42FE-BB40-C2CC744ACA6A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68631-C3C8-477C-A439-7D1F13690625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/>
            <a:t>Осмысленный характер</a:t>
          </a:r>
          <a:endParaRPr lang="en-US" sz="4000" kern="1200"/>
        </a:p>
      </dsp:txBody>
      <dsp:txXfrm>
        <a:off x="696297" y="538547"/>
        <a:ext cx="4171627" cy="2590157"/>
      </dsp:txXfrm>
    </dsp:sp>
    <dsp:sp modelId="{5FF289FD-E709-4A17-9740-0D38292C3579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F4772-989A-4B47-AF11-18D2D5BFC321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/>
            <a:t>Ориентация на ожидаемую реакцию других лиц</a:t>
          </a:r>
          <a:endParaRPr lang="en-US" sz="4000" kern="1200"/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6B1A4-57B3-44CB-9A3C-F699AA7A703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81271F-B76B-4217-B947-EB9036BC4EA9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BAED2-5468-421A-AD42-50C825B8186B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just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/>
            <a:t>Целерациональное</a:t>
          </a:r>
          <a:r>
            <a:rPr lang="ru-RU" sz="2200" kern="1200" dirty="0"/>
            <a:t>: предметы или люди трактуются как средства для достижения собственных рациональных целей</a:t>
          </a:r>
          <a:endParaRPr lang="en-US" sz="2200" kern="1200" dirty="0"/>
        </a:p>
      </dsp:txBody>
      <dsp:txXfrm>
        <a:off x="1057183" y="1805"/>
        <a:ext cx="9458416" cy="915310"/>
      </dsp:txXfrm>
    </dsp:sp>
    <dsp:sp modelId="{782A1CF1-E3D2-4B4F-96A8-41747B570FD8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95DA7-34CE-471C-8A69-35CC3F20C750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CFE725-959A-40FB-9C19-F159D720E42F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just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/>
            <a:t>Ценностно-рациональное</a:t>
          </a:r>
          <a:r>
            <a:rPr lang="ru-RU" sz="2200" kern="1200" dirty="0"/>
            <a:t>: определяется осознанной верой в ценность определённого действия независимо от его успеха</a:t>
          </a:r>
          <a:endParaRPr lang="en-US" sz="2200" kern="1200" dirty="0"/>
        </a:p>
      </dsp:txBody>
      <dsp:txXfrm>
        <a:off x="1057183" y="1145944"/>
        <a:ext cx="9458416" cy="915310"/>
      </dsp:txXfrm>
    </dsp:sp>
    <dsp:sp modelId="{9B45049D-4B27-4CC8-9407-2AF61D020A93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B09102-E0C4-4435-B8CA-BBBAD3671290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CD2568-82C2-4DE4-8E5B-9251B1AD69E5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just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/>
            <a:t>Аффективное</a:t>
          </a:r>
          <a:r>
            <a:rPr lang="ru-RU" sz="2200" kern="1200" dirty="0"/>
            <a:t>: определяется эмоциональным состоянием человека</a:t>
          </a:r>
          <a:endParaRPr lang="en-US" sz="2200" kern="1200" dirty="0"/>
        </a:p>
      </dsp:txBody>
      <dsp:txXfrm>
        <a:off x="1057183" y="2290082"/>
        <a:ext cx="9458416" cy="915310"/>
      </dsp:txXfrm>
    </dsp:sp>
    <dsp:sp modelId="{E360E610-1921-4F00-8F90-0A0206E80ACF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304FED-2F87-48F8-B687-13C5A4AE6BD3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E00EB-BDF7-4570-BEEB-C5D69E2BA0E9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just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/>
            <a:t>Традиционное</a:t>
          </a:r>
          <a:r>
            <a:rPr lang="ru-RU" sz="2200" kern="1200" dirty="0"/>
            <a:t>: определяется традицией или привычкой</a:t>
          </a:r>
          <a:endParaRPr lang="en-US" sz="2200" kern="1200" dirty="0"/>
        </a:p>
      </dsp:txBody>
      <dsp:txXfrm>
        <a:off x="1057183" y="3434221"/>
        <a:ext cx="9458416" cy="915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2D79F-0E45-4E7D-A9E2-E3A36A5E3E42}">
      <dsp:nvSpPr>
        <dsp:cNvPr id="0" name=""/>
        <dsp:cNvSpPr/>
      </dsp:nvSpPr>
      <dsp:spPr>
        <a:xfrm>
          <a:off x="0" y="2794"/>
          <a:ext cx="10515600" cy="12730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D0978-DA84-46C3-8EC2-755A3E231E3A}">
      <dsp:nvSpPr>
        <dsp:cNvPr id="0" name=""/>
        <dsp:cNvSpPr/>
      </dsp:nvSpPr>
      <dsp:spPr>
        <a:xfrm>
          <a:off x="385104" y="289236"/>
          <a:ext cx="700874" cy="7001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26D4B-8688-4747-8D0E-BAB47F496E06}">
      <dsp:nvSpPr>
        <dsp:cNvPr id="0" name=""/>
        <dsp:cNvSpPr/>
      </dsp:nvSpPr>
      <dsp:spPr>
        <a:xfrm>
          <a:off x="1471083" y="2794"/>
          <a:ext cx="8868857" cy="127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865" tIns="134865" rIns="134865" bIns="134865" numCol="1" spcCol="1270" anchor="ctr" anchorCtr="0">
          <a:noAutofit/>
        </a:bodyPr>
        <a:lstStyle/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Концепция Вебера подчёркивает необходимость учитывать мотивы и ценности людей. Социальные процессы невозможно полностью объяснить, не принимая во внимание человеческие представления, убеждения и ожидания</a:t>
          </a:r>
          <a:endParaRPr lang="en-US" sz="2000" kern="1200" dirty="0"/>
        </a:p>
      </dsp:txBody>
      <dsp:txXfrm>
        <a:off x="1471083" y="2794"/>
        <a:ext cx="8868857" cy="1274317"/>
      </dsp:txXfrm>
    </dsp:sp>
    <dsp:sp modelId="{B08D18C1-AFBF-44FC-9186-3C168EA7AAC4}">
      <dsp:nvSpPr>
        <dsp:cNvPr id="0" name=""/>
        <dsp:cNvSpPr/>
      </dsp:nvSpPr>
      <dsp:spPr>
        <a:xfrm>
          <a:off x="0" y="1538510"/>
          <a:ext cx="10515600" cy="12730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DCF8F-F306-4FAD-A531-E566ECDEFBFD}">
      <dsp:nvSpPr>
        <dsp:cNvPr id="0" name=""/>
        <dsp:cNvSpPr/>
      </dsp:nvSpPr>
      <dsp:spPr>
        <a:xfrm>
          <a:off x="385104" y="1824951"/>
          <a:ext cx="700874" cy="7001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B5CBE-4801-449F-A8B4-9EFE2318800D}">
      <dsp:nvSpPr>
        <dsp:cNvPr id="0" name=""/>
        <dsp:cNvSpPr/>
      </dsp:nvSpPr>
      <dsp:spPr>
        <a:xfrm>
          <a:off x="1471083" y="1538510"/>
          <a:ext cx="8868857" cy="127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865" tIns="134865" rIns="134865" bIns="134865" numCol="1" spcCol="1270" anchor="ctr" anchorCtr="0">
          <a:noAutofit/>
        </a:bodyPr>
        <a:lstStyle/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Вебер предложил методологические инструменты, которые помогают изучать сложные общественные явления. Понимающая социология используется для анализа организаций, социальных групп, политических институтов и культурных различий</a:t>
          </a:r>
          <a:endParaRPr lang="en-US" sz="2000" kern="1200" dirty="0"/>
        </a:p>
      </dsp:txBody>
      <dsp:txXfrm>
        <a:off x="1471083" y="1538510"/>
        <a:ext cx="8868857" cy="1274317"/>
      </dsp:txXfrm>
    </dsp:sp>
    <dsp:sp modelId="{C50C6727-2AE4-4944-ADA6-ADC1F4225095}">
      <dsp:nvSpPr>
        <dsp:cNvPr id="0" name=""/>
        <dsp:cNvSpPr/>
      </dsp:nvSpPr>
      <dsp:spPr>
        <a:xfrm>
          <a:off x="0" y="3074226"/>
          <a:ext cx="10515600" cy="12730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D85EAF-6524-4137-939C-97E3E3124903}">
      <dsp:nvSpPr>
        <dsp:cNvPr id="0" name=""/>
        <dsp:cNvSpPr/>
      </dsp:nvSpPr>
      <dsp:spPr>
        <a:xfrm>
          <a:off x="385104" y="3360667"/>
          <a:ext cx="700874" cy="7001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E4B787-F38B-421A-B5A5-87F4469F4CE5}">
      <dsp:nvSpPr>
        <dsp:cNvPr id="0" name=""/>
        <dsp:cNvSpPr/>
      </dsp:nvSpPr>
      <dsp:spPr>
        <a:xfrm>
          <a:off x="1471083" y="3074226"/>
          <a:ext cx="8868857" cy="1274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4865" tIns="134865" rIns="134865" bIns="134865" numCol="1" spcCol="1270" anchor="ctr" anchorCtr="0">
          <a:noAutofit/>
        </a:bodyPr>
        <a:lstStyle/>
        <a:p>
          <a:pPr marL="0" lvl="0" indent="0" algn="just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Его исследование рационализации позволяет критически оценивать современные бюрократические системы. Оно помогает понять, почему формально эффективные организации иногда оказываются негибкими и почему соблюдение правил не всегда приводит к наилучшему результату</a:t>
          </a:r>
          <a:endParaRPr lang="en-US" sz="2000" kern="1200" dirty="0"/>
        </a:p>
      </dsp:txBody>
      <dsp:txXfrm>
        <a:off x="1471083" y="3074226"/>
        <a:ext cx="8868857" cy="1274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F0600-B5E9-F2C0-B7F3-975A0E6BB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EA8F9B-2884-9145-6D59-6758F11A7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2CBFD3-1B8D-A0D9-FE63-3C76BC1C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2389A7-8239-9181-A3D7-8B104C1F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F38584-A27E-F2BA-4350-6BD4B1ED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25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5D8141-4C7D-F3DB-930B-14A42A80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D41586-568E-D053-92FE-BA537E9A7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ED016F-F512-7C24-8F96-82D0D046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0A1DB-9235-0D2A-BD99-37F4C0A6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0526BE-D1AA-CF9B-AC6F-D5AE4479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23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98C0A-5E05-0229-CEAB-D5C13B21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D2FDC9-7A8B-5C8A-33FB-5C53FF1A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DE949E-747C-C175-7923-A059E87B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63183F-3084-FD6A-ADA4-EB8B8874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FEE7AC-5661-E2EF-BDA0-4F80FB15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93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8FDF5-0BB4-5E12-D34B-17AB2CD4F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5634BD-E4CF-085B-D775-63FD8A221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7A7000-3E17-79D0-EFC4-34BE0301E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5092E9-F863-AE15-A07D-2542E49A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1CE7FC-BEFD-D248-81DD-3F9923F0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86A27A-B8DD-C883-A54B-2E551869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49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F882B-6B8F-3302-7F73-5BD83D6E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C6B83-195D-4F2B-5F68-50F497015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CF8925-E95D-9FE2-E67B-658B025C9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D0E27B-49BB-9033-B560-919E1E24D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ECCB004-03B7-0645-D2A4-7DC486236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85E203-13C9-BE66-4027-28091A36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B44FD6-459F-FD0C-3591-B79BF1D3A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595273-885D-7324-7C0A-0E120B5C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74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57C43-AA49-D578-86E8-1548B89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216275-C5B8-1BFD-52DC-4FC6C211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F7C99F-0BCB-7E13-CC0E-D8DC86AD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CA9005-563A-A6B5-B96E-BF5904CB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50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CBA260-DA0E-8345-C8EF-70F6DC2A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205CC6-B3BE-A8CC-CB36-47BDA5F8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F0E99D-F837-448D-89C0-BAB30E20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27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6415E-4F66-820E-2B6D-7EE14EB9E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B2C3F-5AD1-4520-C5AB-FF7B2C309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89ADAF-B24A-670D-3CC5-E25F73578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1138A5-C0CC-4E20-A3A2-7B898C79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A452A1-92D9-7003-BA9A-00ECD8D9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037CE8-DA87-26B6-10E6-B7E3971B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72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F89E3-C53B-B3C2-F3DC-5699C844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9A88D1-66B1-9E29-8E9D-F2DACD4E80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9E7EB2-B10D-B00F-1C21-6B19F38A7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9B396F-7960-6B01-059F-39267437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B86167-9E78-1E60-84D5-2E79DFCE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D17FDA-4A65-7B41-8B0F-93458B0E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48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1E044A-7CB6-C409-9465-7201B0FC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D55E25-B8F5-0627-8A18-21F33DF00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14C0B-2D17-F5D4-D12B-C5986C26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9814A4-0F0F-0A39-C6A2-59FCDDAF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B92C86-9461-6BF3-1356-DBED7313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370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DB0FC18-9AD8-5A4D-A7D9-8692BB98C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48A2FC-0FCF-1EDD-E9F8-D03F95BC1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15353-DB52-8BC6-06FE-05798FF1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A63C78-2C06-2447-E5A8-CF3EBF6C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3986C2-0AC0-275A-E8F6-5CDD7EE3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45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289B9-D3BA-CDB7-50F6-84F1B3704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83EEC6-A6BE-3A9E-721A-B38088EAE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DB54FF-9C02-2AE3-CFEA-E71BA60BAC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90CC9-17A1-4BEC-B823-713AD8106EEA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DB5F78-D88F-ED3F-3F39-ECE32F9D5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C14E7-33F9-7987-A25C-06E3F72DF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BA00-AE81-4CC4-8713-6E34260B3E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24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org&amp;utm_campaign=index&amp;utm_content=origi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org&amp;utm_campaign=index&amp;utm_content=origi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6A64F-3E97-7D5D-0C26-AE2CC5BBE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0126" y="1085600"/>
            <a:ext cx="7334249" cy="3092116"/>
          </a:xfrm>
        </p:spPr>
        <p:txBody>
          <a:bodyPr anchor="ctr">
            <a:normAutofit/>
          </a:bodyPr>
          <a:lstStyle/>
          <a:p>
            <a:r>
              <a:rPr lang="ru-RU" sz="5200" b="1" dirty="0"/>
              <a:t>Концепция социальной реальности Макса Вебера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208BF0-4122-AC6D-A08F-CD7FBF54B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05632"/>
            <a:ext cx="3781926" cy="1246472"/>
          </a:xfrm>
        </p:spPr>
        <p:txBody>
          <a:bodyPr anchor="ctr">
            <a:normAutofit/>
          </a:bodyPr>
          <a:lstStyle/>
          <a:p>
            <a:r>
              <a:rPr lang="ru-RU" sz="2800" b="1" dirty="0"/>
              <a:t>Шарыгин Максим</a:t>
            </a:r>
          </a:p>
          <a:p>
            <a:r>
              <a:rPr lang="ru-RU" sz="2800" b="1" dirty="0"/>
              <a:t>МО-МОВКС-104М</a:t>
            </a:r>
          </a:p>
        </p:txBody>
      </p:sp>
    </p:spTree>
    <p:extLst>
      <p:ext uri="{BB962C8B-B14F-4D97-AF65-F5344CB8AC3E}">
        <p14:creationId xmlns:p14="http://schemas.microsoft.com/office/powerpoint/2010/main" val="1967633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38AFE-FAF1-2D3D-640D-89DDF984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ru-RU" b="1" dirty="0"/>
              <a:t>Макс Вебер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144FB0-A605-F2D4-E1F2-2B24941C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9656"/>
            <a:ext cx="5124586" cy="4673219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dirty="0"/>
              <a:t>Макс Вебер – немецкий социолог, философ, историк, политический экономист. Идеи Вебера оказали значительное влияние на развитие общественных наук, в особенности – социологии. Наряду с Эмилем Дюркгеймом и Карлом Марксом Вебер считается одним из основоположников социологической науки.</a:t>
            </a:r>
          </a:p>
        </p:txBody>
      </p:sp>
      <p:pic>
        <p:nvPicPr>
          <p:cNvPr id="5" name="Рисунок 4" descr="Макс Вебер – биография, фото, личная жизнь, социология, теории - 24СМИ">
            <a:extLst>
              <a:ext uri="{FF2B5EF4-FFF2-40B4-BE49-F238E27FC236}">
                <a16:creationId xmlns:a16="http://schemas.microsoft.com/office/drawing/2014/main" id="{6B5B1137-D223-4EDE-BC82-49C801327F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0" b="12370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53579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DD8E39-EA14-4679-9655-1BFF5A7B6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 descr="«Scientarium» для студентов Вышки: как прокачать академические навыки на образовательном уикенде">
            <a:extLst>
              <a:ext uri="{FF2B5EF4-FFF2-40B4-BE49-F238E27FC236}">
                <a16:creationId xmlns:a16="http://schemas.microsoft.com/office/drawing/2014/main" id="{EA590035-FB0D-252D-861E-51C3CE028A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9" b="11022"/>
          <a:stretch>
            <a:fillRect/>
          </a:stretch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560655" y="6858000"/>
                </a:lnTo>
                <a:lnTo>
                  <a:pt x="11572884" y="6759738"/>
                </a:lnTo>
                <a:cubicBezTo>
                  <a:pt x="11663744" y="6693104"/>
                  <a:pt x="11749315" y="6619456"/>
                  <a:pt x="11812292" y="6532282"/>
                </a:cubicBezTo>
                <a:cubicBezTo>
                  <a:pt x="11851232" y="6478675"/>
                  <a:pt x="11886807" y="6425068"/>
                  <a:pt x="11956995" y="6386992"/>
                </a:cubicBezTo>
                <a:cubicBezTo>
                  <a:pt x="11918054" y="6334888"/>
                  <a:pt x="11851232" y="6322863"/>
                  <a:pt x="11801234" y="6284788"/>
                </a:cubicBezTo>
                <a:cubicBezTo>
                  <a:pt x="11797390" y="6253224"/>
                  <a:pt x="11876711" y="6262743"/>
                  <a:pt x="11856520" y="6193604"/>
                </a:cubicBezTo>
                <a:cubicBezTo>
                  <a:pt x="11829119" y="6101419"/>
                  <a:pt x="11858923" y="5996209"/>
                  <a:pt x="11722875" y="5956630"/>
                </a:cubicBezTo>
                <a:cubicBezTo>
                  <a:pt x="11686819" y="5866950"/>
                  <a:pt x="11676724" y="5723664"/>
                  <a:pt x="11763258" y="5635988"/>
                </a:cubicBezTo>
                <a:cubicBezTo>
                  <a:pt x="11892094" y="5505226"/>
                  <a:pt x="11871424" y="5422059"/>
                  <a:pt x="11706050" y="5351418"/>
                </a:cubicBezTo>
                <a:cubicBezTo>
                  <a:pt x="11684896" y="5342400"/>
                  <a:pt x="11707491" y="4786287"/>
                  <a:pt x="11697876" y="4763241"/>
                </a:cubicBezTo>
                <a:cubicBezTo>
                  <a:pt x="11713260" y="4731677"/>
                  <a:pt x="11749315" y="4739192"/>
                  <a:pt x="11776236" y="4730675"/>
                </a:cubicBezTo>
                <a:cubicBezTo>
                  <a:pt x="11894018" y="4694603"/>
                  <a:pt x="11897864" y="4694603"/>
                  <a:pt x="11868540" y="4584884"/>
                </a:cubicBezTo>
                <a:cubicBezTo>
                  <a:pt x="11859884" y="4551817"/>
                  <a:pt x="11880076" y="4538289"/>
                  <a:pt x="11898825" y="4517749"/>
                </a:cubicBezTo>
                <a:cubicBezTo>
                  <a:pt x="11969013" y="4441095"/>
                  <a:pt x="11969494" y="4440094"/>
                  <a:pt x="11897864" y="4375464"/>
                </a:cubicBezTo>
                <a:cubicBezTo>
                  <a:pt x="11877192" y="4356928"/>
                  <a:pt x="11863252" y="4336887"/>
                  <a:pt x="11854116" y="4311838"/>
                </a:cubicBezTo>
                <a:cubicBezTo>
                  <a:pt x="11837290" y="4266245"/>
                  <a:pt x="11837771" y="4228169"/>
                  <a:pt x="11901709" y="4203620"/>
                </a:cubicBezTo>
                <a:cubicBezTo>
                  <a:pt x="11946418" y="4186086"/>
                  <a:pt x="11971897" y="4166044"/>
                  <a:pt x="11974782" y="4114442"/>
                </a:cubicBezTo>
                <a:cubicBezTo>
                  <a:pt x="11976706" y="4071355"/>
                  <a:pt x="11981993" y="4043299"/>
                  <a:pt x="11932476" y="4024762"/>
                </a:cubicBezTo>
                <a:cubicBezTo>
                  <a:pt x="11892576" y="4009732"/>
                  <a:pt x="11881038" y="3977668"/>
                  <a:pt x="11885365" y="3939592"/>
                </a:cubicBezTo>
                <a:cubicBezTo>
                  <a:pt x="11895460" y="3846405"/>
                  <a:pt x="11841137" y="3791796"/>
                  <a:pt x="11751719" y="3749211"/>
                </a:cubicBezTo>
                <a:cubicBezTo>
                  <a:pt x="11666628" y="3708629"/>
                  <a:pt x="11592115" y="3654019"/>
                  <a:pt x="11513754" y="3604420"/>
                </a:cubicBezTo>
                <a:cubicBezTo>
                  <a:pt x="11426740" y="3549310"/>
                  <a:pt x="11325786" y="3516243"/>
                  <a:pt x="11220504" y="3488188"/>
                </a:cubicBezTo>
                <a:cubicBezTo>
                  <a:pt x="11239734" y="3448108"/>
                  <a:pt x="11306076" y="3470653"/>
                  <a:pt x="11312805" y="3414541"/>
                </a:cubicBezTo>
                <a:cubicBezTo>
                  <a:pt x="11148394" y="3366945"/>
                  <a:pt x="10991193" y="3295301"/>
                  <a:pt x="10805146" y="3277767"/>
                </a:cubicBezTo>
                <a:cubicBezTo>
                  <a:pt x="10955618" y="3286784"/>
                  <a:pt x="11092147" y="3222154"/>
                  <a:pt x="11234926" y="3203117"/>
                </a:cubicBezTo>
                <a:cubicBezTo>
                  <a:pt x="11248386" y="3171554"/>
                  <a:pt x="11217140" y="3179569"/>
                  <a:pt x="11204640" y="3174060"/>
                </a:cubicBezTo>
                <a:cubicBezTo>
                  <a:pt x="11192140" y="3168047"/>
                  <a:pt x="11176757" y="3166042"/>
                  <a:pt x="11174834" y="3143498"/>
                </a:cubicBezTo>
                <a:cubicBezTo>
                  <a:pt x="11243580" y="3110932"/>
                  <a:pt x="11329632" y="3132475"/>
                  <a:pt x="11400780" y="3099410"/>
                </a:cubicBezTo>
                <a:cubicBezTo>
                  <a:pt x="11384916" y="3051314"/>
                  <a:pt x="11323382" y="3080371"/>
                  <a:pt x="11297902" y="3041793"/>
                </a:cubicBezTo>
                <a:cubicBezTo>
                  <a:pt x="11364246" y="3034780"/>
                  <a:pt x="11425779" y="3031774"/>
                  <a:pt x="11485870" y="3021253"/>
                </a:cubicBezTo>
                <a:cubicBezTo>
                  <a:pt x="11532984" y="3013236"/>
                  <a:pt x="11545964" y="2972154"/>
                  <a:pt x="11513754" y="2944098"/>
                </a:cubicBezTo>
                <a:cubicBezTo>
                  <a:pt x="11484909" y="2919049"/>
                  <a:pt x="11442604" y="2917044"/>
                  <a:pt x="11405107" y="2906523"/>
                </a:cubicBezTo>
                <a:cubicBezTo>
                  <a:pt x="11137817" y="2833377"/>
                  <a:pt x="10857066" y="2809829"/>
                  <a:pt x="10572950" y="2803317"/>
                </a:cubicBezTo>
                <a:cubicBezTo>
                  <a:pt x="10117210" y="2792795"/>
                  <a:pt x="9660028" y="2793297"/>
                  <a:pt x="9205250" y="2778767"/>
                </a:cubicBezTo>
                <a:cubicBezTo>
                  <a:pt x="8996489" y="2772379"/>
                  <a:pt x="8788540" y="2761765"/>
                  <a:pt x="8579578" y="2759181"/>
                </a:cubicBezTo>
                <a:cubicBezTo>
                  <a:pt x="8509922" y="2758320"/>
                  <a:pt x="8440155" y="2758352"/>
                  <a:pt x="8370208" y="2759730"/>
                </a:cubicBezTo>
                <a:cubicBezTo>
                  <a:pt x="8070708" y="2765742"/>
                  <a:pt x="7771690" y="2764238"/>
                  <a:pt x="7470748" y="2819849"/>
                </a:cubicBezTo>
                <a:cubicBezTo>
                  <a:pt x="7316911" y="2848407"/>
                  <a:pt x="7156825" y="2838887"/>
                  <a:pt x="7001547" y="2861432"/>
                </a:cubicBezTo>
                <a:cubicBezTo>
                  <a:pt x="6765024" y="2896002"/>
                  <a:pt x="6528501" y="2936583"/>
                  <a:pt x="6295343" y="2988688"/>
                </a:cubicBezTo>
                <a:cubicBezTo>
                  <a:pt x="6222271" y="3005220"/>
                  <a:pt x="6131892" y="3015241"/>
                  <a:pt x="6075166" y="3078367"/>
                </a:cubicBezTo>
                <a:cubicBezTo>
                  <a:pt x="5985266" y="3038288"/>
                  <a:pt x="5929502" y="3113938"/>
                  <a:pt x="5859314" y="3139490"/>
                </a:cubicBezTo>
                <a:cubicBezTo>
                  <a:pt x="5831912" y="3149510"/>
                  <a:pt x="5795857" y="3163538"/>
                  <a:pt x="5800183" y="3195101"/>
                </a:cubicBezTo>
                <a:cubicBezTo>
                  <a:pt x="5804030" y="3234680"/>
                  <a:pt x="5844410" y="3260231"/>
                  <a:pt x="5882870" y="3252215"/>
                </a:cubicBezTo>
                <a:cubicBezTo>
                  <a:pt x="6002574" y="3227164"/>
                  <a:pt x="6109777" y="3283277"/>
                  <a:pt x="6232848" y="3274760"/>
                </a:cubicBezTo>
                <a:cubicBezTo>
                  <a:pt x="6125643" y="3298808"/>
                  <a:pt x="6018918" y="3323358"/>
                  <a:pt x="5911715" y="3347407"/>
                </a:cubicBezTo>
                <a:cubicBezTo>
                  <a:pt x="6070839" y="3366444"/>
                  <a:pt x="6227559" y="3332376"/>
                  <a:pt x="6384279" y="3312836"/>
                </a:cubicBezTo>
                <a:cubicBezTo>
                  <a:pt x="6434757" y="3306824"/>
                  <a:pt x="6513117" y="3260732"/>
                  <a:pt x="6526097" y="3325362"/>
                </a:cubicBezTo>
                <a:cubicBezTo>
                  <a:pt x="6534750" y="3368448"/>
                  <a:pt x="6450622" y="3371454"/>
                  <a:pt x="6403028" y="3383478"/>
                </a:cubicBezTo>
                <a:cubicBezTo>
                  <a:pt x="6192945" y="3435081"/>
                  <a:pt x="5979497" y="3465141"/>
                  <a:pt x="5767013" y="3500713"/>
                </a:cubicBezTo>
                <a:cubicBezTo>
                  <a:pt x="5746822" y="3504220"/>
                  <a:pt x="5720381" y="3501214"/>
                  <a:pt x="5706920" y="3511233"/>
                </a:cubicBezTo>
                <a:cubicBezTo>
                  <a:pt x="5598272" y="3591895"/>
                  <a:pt x="5460782" y="3618449"/>
                  <a:pt x="5310793" y="3677066"/>
                </a:cubicBezTo>
                <a:cubicBezTo>
                  <a:pt x="5405498" y="3704622"/>
                  <a:pt x="5469435" y="3648007"/>
                  <a:pt x="5548276" y="3660533"/>
                </a:cubicBezTo>
                <a:cubicBezTo>
                  <a:pt x="5467993" y="3721154"/>
                  <a:pt x="5374730" y="3732677"/>
                  <a:pt x="5293005" y="3765743"/>
                </a:cubicBezTo>
                <a:cubicBezTo>
                  <a:pt x="5234355" y="3789291"/>
                  <a:pt x="5016580" y="3862938"/>
                  <a:pt x="4983410" y="3883981"/>
                </a:cubicBezTo>
                <a:cubicBezTo>
                  <a:pt x="4883416" y="3949110"/>
                  <a:pt x="4756501" y="3979672"/>
                  <a:pt x="4674775" y="4068850"/>
                </a:cubicBezTo>
                <a:cubicBezTo>
                  <a:pt x="4617087" y="4131477"/>
                  <a:pt x="4520939" y="4119952"/>
                  <a:pt x="4453155" y="4163539"/>
                </a:cubicBezTo>
                <a:cubicBezTo>
                  <a:pt x="4429119" y="4204622"/>
                  <a:pt x="4475751" y="4215143"/>
                  <a:pt x="4492095" y="4237188"/>
                </a:cubicBezTo>
                <a:cubicBezTo>
                  <a:pt x="4513728" y="4266746"/>
                  <a:pt x="4475269" y="4283280"/>
                  <a:pt x="4464213" y="4318851"/>
                </a:cubicBezTo>
                <a:cubicBezTo>
                  <a:pt x="4591608" y="4278771"/>
                  <a:pt x="4713234" y="4255223"/>
                  <a:pt x="4857456" y="4241696"/>
                </a:cubicBezTo>
                <a:cubicBezTo>
                  <a:pt x="4809862" y="4299311"/>
                  <a:pt x="4752174" y="4274261"/>
                  <a:pt x="4713234" y="4295303"/>
                </a:cubicBezTo>
                <a:cubicBezTo>
                  <a:pt x="4687756" y="4308830"/>
                  <a:pt x="4648816" y="4314843"/>
                  <a:pt x="4656026" y="4348410"/>
                </a:cubicBezTo>
                <a:cubicBezTo>
                  <a:pt x="4661795" y="4374963"/>
                  <a:pt x="4694486" y="4371456"/>
                  <a:pt x="4718523" y="4368951"/>
                </a:cubicBezTo>
                <a:cubicBezTo>
                  <a:pt x="4810825" y="4359433"/>
                  <a:pt x="4900722" y="4356425"/>
                  <a:pt x="4989178" y="4420054"/>
                </a:cubicBezTo>
                <a:cubicBezTo>
                  <a:pt x="4764193" y="4512739"/>
                  <a:pt x="4505557" y="4473661"/>
                  <a:pt x="4304127" y="4609933"/>
                </a:cubicBezTo>
                <a:cubicBezTo>
                  <a:pt x="4332491" y="4652018"/>
                  <a:pt x="4372871" y="4629473"/>
                  <a:pt x="4402677" y="4624463"/>
                </a:cubicBezTo>
                <a:cubicBezTo>
                  <a:pt x="4598338" y="4590394"/>
                  <a:pt x="5297331" y="4651016"/>
                  <a:pt x="5398287" y="4608430"/>
                </a:cubicBezTo>
                <a:cubicBezTo>
                  <a:pt x="5460301" y="4582379"/>
                  <a:pt x="5525682" y="4569853"/>
                  <a:pt x="5592504" y="4585886"/>
                </a:cubicBezTo>
                <a:cubicBezTo>
                  <a:pt x="5656923" y="4601416"/>
                  <a:pt x="5640578" y="4819353"/>
                  <a:pt x="5411266" y="4964142"/>
                </a:cubicBezTo>
                <a:cubicBezTo>
                  <a:pt x="5378575" y="4984684"/>
                  <a:pt x="5524721" y="5014244"/>
                  <a:pt x="5480493" y="5031277"/>
                </a:cubicBezTo>
                <a:cubicBezTo>
                  <a:pt x="5445880" y="5044804"/>
                  <a:pt x="5276179" y="5037289"/>
                  <a:pt x="5233393" y="5047810"/>
                </a:cubicBezTo>
                <a:cubicBezTo>
                  <a:pt x="5216567" y="5052318"/>
                  <a:pt x="4701216" y="5221157"/>
                  <a:pt x="4750251" y="5256728"/>
                </a:cubicBezTo>
                <a:cubicBezTo>
                  <a:pt x="4896877" y="5363441"/>
                  <a:pt x="5388190" y="5558833"/>
                  <a:pt x="4508440" y="5624965"/>
                </a:cubicBezTo>
                <a:cubicBezTo>
                  <a:pt x="4536323" y="5663542"/>
                  <a:pt x="4613241" y="5638994"/>
                  <a:pt x="4602665" y="5706629"/>
                </a:cubicBezTo>
                <a:cubicBezTo>
                  <a:pt x="4485845" y="5743202"/>
                  <a:pt x="4350758" y="5741198"/>
                  <a:pt x="4215189" y="5797811"/>
                </a:cubicBezTo>
                <a:cubicBezTo>
                  <a:pt x="4276245" y="5838893"/>
                  <a:pt x="4346432" y="5813844"/>
                  <a:pt x="4407966" y="5826870"/>
                </a:cubicBezTo>
                <a:cubicBezTo>
                  <a:pt x="4373353" y="5878473"/>
                  <a:pt x="4313741" y="5870457"/>
                  <a:pt x="4265186" y="5881478"/>
                </a:cubicBezTo>
                <a:cubicBezTo>
                  <a:pt x="4220479" y="5892001"/>
                  <a:pt x="4125774" y="5981680"/>
                  <a:pt x="4145964" y="5977170"/>
                </a:cubicBezTo>
                <a:cubicBezTo>
                  <a:pt x="4332971" y="5937091"/>
                  <a:pt x="4522862" y="5948113"/>
                  <a:pt x="4710350" y="5909035"/>
                </a:cubicBezTo>
                <a:cubicBezTo>
                  <a:pt x="4772366" y="5896009"/>
                  <a:pt x="4842554" y="5870958"/>
                  <a:pt x="4870916" y="5949616"/>
                </a:cubicBezTo>
                <a:cubicBezTo>
                  <a:pt x="4879571" y="5972663"/>
                  <a:pt x="4873320" y="5980177"/>
                  <a:pt x="4960333" y="5949115"/>
                </a:cubicBezTo>
                <a:cubicBezTo>
                  <a:pt x="4994466" y="5937091"/>
                  <a:pt x="5039656" y="5924065"/>
                  <a:pt x="5073788" y="5953623"/>
                </a:cubicBezTo>
                <a:cubicBezTo>
                  <a:pt x="5052154" y="5990698"/>
                  <a:pt x="5010331" y="5979675"/>
                  <a:pt x="4979084" y="5990197"/>
                </a:cubicBezTo>
                <a:cubicBezTo>
                  <a:pt x="4896397" y="6017250"/>
                  <a:pt x="5180513" y="6120457"/>
                  <a:pt x="5100228" y="6151519"/>
                </a:cubicBezTo>
                <a:cubicBezTo>
                  <a:pt x="4935817" y="6215148"/>
                  <a:pt x="4832938" y="6196611"/>
                  <a:pt x="4666602" y="6266250"/>
                </a:cubicBezTo>
                <a:cubicBezTo>
                  <a:pt x="4723331" y="6264746"/>
                  <a:pt x="4706024" y="6288795"/>
                  <a:pt x="4762750" y="6288795"/>
                </a:cubicBezTo>
                <a:cubicBezTo>
                  <a:pt x="4788229" y="6288795"/>
                  <a:pt x="4815151" y="6294807"/>
                  <a:pt x="4815151" y="6322363"/>
                </a:cubicBezTo>
                <a:cubicBezTo>
                  <a:pt x="4815151" y="6348414"/>
                  <a:pt x="4516613" y="6491199"/>
                  <a:pt x="4558918" y="6504727"/>
                </a:cubicBezTo>
                <a:cubicBezTo>
                  <a:pt x="4674295" y="6541299"/>
                  <a:pt x="4970431" y="6429075"/>
                  <a:pt x="4899280" y="6480679"/>
                </a:cubicBezTo>
                <a:cubicBezTo>
                  <a:pt x="4791114" y="6559337"/>
                  <a:pt x="4774769" y="6574868"/>
                  <a:pt x="4692563" y="6586391"/>
                </a:cubicBezTo>
                <a:cubicBezTo>
                  <a:pt x="4621894" y="6596411"/>
                  <a:pt x="4373353" y="6816352"/>
                  <a:pt x="4303645" y="6834888"/>
                </a:cubicBezTo>
                <a:cubicBezTo>
                  <a:pt x="4288262" y="6838896"/>
                  <a:pt x="4291687" y="6845065"/>
                  <a:pt x="4307829" y="6852361"/>
                </a:cubicBezTo>
                <a:lnTo>
                  <a:pt x="432378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B7A2E-1B3A-684D-626F-E946311E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657" y="3203534"/>
            <a:ext cx="5552090" cy="774106"/>
          </a:xfrm>
        </p:spPr>
        <p:txBody>
          <a:bodyPr anchor="b">
            <a:normAutofit/>
          </a:bodyPr>
          <a:lstStyle/>
          <a:p>
            <a:r>
              <a:rPr lang="ru-RU" b="1" dirty="0"/>
              <a:t>Макс Вебер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A294D-420E-28D3-3E9C-6200395E4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657" y="4069080"/>
            <a:ext cx="6016752" cy="3017520"/>
          </a:xfrm>
        </p:spPr>
        <p:txBody>
          <a:bodyPr>
            <a:normAutofit lnSpcReduction="10000"/>
          </a:bodyPr>
          <a:lstStyle/>
          <a:p>
            <a:pPr marL="0" indent="457200" algn="just">
              <a:buNone/>
            </a:pPr>
            <a:r>
              <a:rPr lang="ru-RU" sz="2400" dirty="0"/>
              <a:t>Вебер считал, что движущей силой развития общества являются культурные ценности, а носителями этих ценностей – прежде всего представители интеллигенции. Вебер дистанцировался от диалектического подхода Гегеля и Маркса, а также критически относился к обобщающим понятиям, популярным в социологии того времени. </a:t>
            </a:r>
          </a:p>
        </p:txBody>
      </p:sp>
    </p:spTree>
    <p:extLst>
      <p:ext uri="{BB962C8B-B14F-4D97-AF65-F5344CB8AC3E}">
        <p14:creationId xmlns:p14="http://schemas.microsoft.com/office/powerpoint/2010/main" val="2056213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87AFE0E-B37D-4531-AFE8-231C8348E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BBDF6-3995-129D-0169-3F12C869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44803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Макс Вебер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85F470-B937-8B8E-01A9-8FD160C2C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463041"/>
            <a:ext cx="5742432" cy="5029834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Для Вебера первостепенное значение имело все, что связано с индивидом: его мотивы, цели, интересы и сознание. Эти характеристики определяют поведение и деятельность человека. Особое внимание уделялось взаимодействию между людьми и его результатам, поскольку только осознанное взаимодействие можно назвать социальным действием. Именно такие действия и становятся предметом изучения понимающей социологии, основоположником которой был Вебер.</a:t>
            </a:r>
          </a:p>
        </p:txBody>
      </p:sp>
      <p:pic>
        <p:nvPicPr>
          <p:cNvPr id="7" name="Рисунок 6" descr="8,200+ Psychological Testing Illustrations - iStock">
            <a:extLst>
              <a:ext uri="{FF2B5EF4-FFF2-40B4-BE49-F238E27FC236}">
                <a16:creationId xmlns:a16="http://schemas.microsoft.com/office/drawing/2014/main" id="{2B99990F-E9E7-41AF-AD2E-F53CDC01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95" r="-1" b="-1"/>
          <a:stretch>
            <a:fillRect/>
          </a:stretch>
        </p:blipFill>
        <p:spPr>
          <a:xfrm>
            <a:off x="6101338" y="2015168"/>
            <a:ext cx="5283866" cy="4210442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39123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F6964-6732-C14E-32A0-CD43D232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6211" y="136525"/>
            <a:ext cx="5753099" cy="1807305"/>
          </a:xfrm>
        </p:spPr>
        <p:txBody>
          <a:bodyPr>
            <a:normAutofit/>
          </a:bodyPr>
          <a:lstStyle/>
          <a:p>
            <a:r>
              <a:rPr lang="ru-RU" b="1" dirty="0"/>
              <a:t>Социальное действие</a:t>
            </a:r>
          </a:p>
        </p:txBody>
      </p:sp>
      <p:pic>
        <p:nvPicPr>
          <p:cNvPr id="4" name="Рисунок 3" descr="Как осуществляется поиск сведений о человеке? - Услуги частного детектива в  Москве">
            <a:extLst>
              <a:ext uri="{FF2B5EF4-FFF2-40B4-BE49-F238E27FC236}">
                <a16:creationId xmlns:a16="http://schemas.microsoft.com/office/drawing/2014/main" id="{1176C4BF-0B2E-138A-3B16-6A8A1DB83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50" r="23963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8C37196F-798F-55F0-3973-5CE969471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775" y="1609725"/>
            <a:ext cx="5753099" cy="5111750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sz="2400" dirty="0"/>
              <a:t>В полном соответствии с «атомистическим» подходом к структуре общества он оп­ределяет человека в качестве исходной клетки общественной структуры. Но в отличие от </a:t>
            </a:r>
            <a:r>
              <a:rPr lang="ru-RU" sz="2400" dirty="0" err="1"/>
              <a:t>инстинктивистов</a:t>
            </a:r>
            <a:r>
              <a:rPr lang="ru-RU" sz="2400" dirty="0"/>
              <a:t> ищет отличительные особенности человека как системообразую­щего элемента общественной структуры не во врожденных ин­стинктивных актах его психики, а в природе его сознания. На этой основе и строится рационалистическая модель социального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074268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Макс Вебер — Википедиясь">
            <a:extLst>
              <a:ext uri="{FF2B5EF4-FFF2-40B4-BE49-F238E27FC236}">
                <a16:creationId xmlns:a16="http://schemas.microsoft.com/office/drawing/2014/main" id="{9669B50E-096F-589D-0AF5-3D5433523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06" b="4188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8EB6D7-23D6-353D-9788-4B29CD966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930332"/>
            <a:ext cx="4471416" cy="2997335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b="1" dirty="0"/>
              <a:t>«Социология есть наука, стремящаяся, истолковывая, понять социальное действие и тем самым каузально объяснить его процесс и воздействие»</a:t>
            </a:r>
          </a:p>
        </p:txBody>
      </p:sp>
    </p:spTree>
    <p:extLst>
      <p:ext uri="{BB962C8B-B14F-4D97-AF65-F5344CB8AC3E}">
        <p14:creationId xmlns:p14="http://schemas.microsoft.com/office/powerpoint/2010/main" val="2321814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FF5AD-6CF2-74A1-5B57-34D2D04D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8020" y="271272"/>
            <a:ext cx="4140014" cy="1330839"/>
          </a:xfrm>
        </p:spPr>
        <p:txBody>
          <a:bodyPr>
            <a:normAutofit/>
          </a:bodyPr>
          <a:lstStyle/>
          <a:p>
            <a:r>
              <a:rPr lang="ru-RU" b="1" dirty="0"/>
              <a:t>Социальное действие</a:t>
            </a:r>
            <a:endParaRPr lang="ru-RU" dirty="0"/>
          </a:p>
        </p:txBody>
      </p:sp>
      <p:pic>
        <p:nvPicPr>
          <p:cNvPr id="4" name="Рисунок 3" descr="Научно-учебная лаборатория психологии социального неравенства —  Национальный исследовательский университет «Высшая школа экономики»">
            <a:extLst>
              <a:ext uri="{FF2B5EF4-FFF2-40B4-BE49-F238E27FC236}">
                <a16:creationId xmlns:a16="http://schemas.microsoft.com/office/drawing/2014/main" id="{9BD11060-20BB-113E-FB85-CEF474B29D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09" r="16815" b="-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7FBA12A-938C-5DF8-CAB6-E5E43436F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5" y="1873383"/>
            <a:ext cx="5312663" cy="4713345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Действием считается лишь такое поведение человека, которое но­сит осмысленный характер. Этим и отличается действие от раз­личного рода аффектов и реактивных поступков. Далеко не всегда можно провести четкую грань между осмысленным действием и реактивным поступком. Но это не мешает ему рассматривать критерий осмысленности как важный признак того, что отличает человеческое действие от всех других проявлений его активности.</a:t>
            </a:r>
          </a:p>
        </p:txBody>
      </p:sp>
    </p:spTree>
    <p:extLst>
      <p:ext uri="{BB962C8B-B14F-4D97-AF65-F5344CB8AC3E}">
        <p14:creationId xmlns:p14="http://schemas.microsoft.com/office/powerpoint/2010/main" val="3663467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466ED-1190-7CAB-F464-C7F02C704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Социальное действие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C78A9F-61F0-1E11-B777-0C3C29B7F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08" y="2028825"/>
            <a:ext cx="11282317" cy="4181475"/>
          </a:xfrm>
        </p:spPr>
        <p:txBody>
          <a:bodyPr anchor="ctr">
            <a:normAutofit/>
          </a:bodyPr>
          <a:lstStyle/>
          <a:p>
            <a:pPr marL="0" indent="457200" algn="just">
              <a:buNone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Наличие критерия осмысленности и придает действию социально значимый характер: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смысл придает действию его четко обозначенную направленность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;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позволяет людям понять это действие и вступить в осмысленный контакт с действующим лицом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;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сам факт этого понимания пе­реводит действие во взаимодействие и тем самым придает ему социальный смысл.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7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Bекторная иллюстрация Молодая женщина падает с велосипеда">
            <a:extLst>
              <a:ext uri="{FF2B5EF4-FFF2-40B4-BE49-F238E27FC236}">
                <a16:creationId xmlns:a16="http://schemas.microsoft.com/office/drawing/2014/main" id="{05B1829B-FC40-87B6-4702-0039E99F3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66032"/>
            <a:ext cx="5291666" cy="4325936"/>
          </a:xfrm>
          <a:prstGeom prst="rect">
            <a:avLst/>
          </a:prstGeom>
        </p:spPr>
      </p:pic>
      <p:pic>
        <p:nvPicPr>
          <p:cNvPr id="8" name="Рисунок 7" descr="Bекторная иллюстрация Велосипедист падает с велосипеда">
            <a:extLst>
              <a:ext uri="{FF2B5EF4-FFF2-40B4-BE49-F238E27FC236}">
                <a16:creationId xmlns:a16="http://schemas.microsoft.com/office/drawing/2014/main" id="{C26FACA1-2355-4736-8CAD-A87D3EA2F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563687"/>
            <a:ext cx="5291667" cy="373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87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9DC77-9335-57DA-00F8-79BB4B61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ru-RU" b="1" dirty="0"/>
              <a:t>Признаки социального действия</a:t>
            </a: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760063B5-C122-84C8-2DA6-84733685D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25811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398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EC4D1-78CE-6A1A-AF04-869662AF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социального действия</a:t>
            </a: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D1145E1B-D991-E41E-5DE4-1689559E6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062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3706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C150D-3EB6-74B9-CDE7-3A58BF120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1920"/>
            <a:ext cx="6891593" cy="1495425"/>
          </a:xfrm>
        </p:spPr>
        <p:txBody>
          <a:bodyPr>
            <a:normAutofit/>
          </a:bodyPr>
          <a:lstStyle/>
          <a:p>
            <a:r>
              <a:rPr lang="ru-RU" sz="4000" b="1" dirty="0"/>
              <a:t>Понимающая социология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2EB896-36E7-520E-98CD-98567A5BA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9265"/>
            <a:ext cx="6276975" cy="4876810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dirty="0"/>
              <a:t>Понимающая социология – подход, предполагающий истолкование субъективного смысла социальных действий и объяснение их причин и последствий. Вебер считал, что исследователь должен стремиться понять, почему человек поступает определённым образом и какой смысл он вкладывает в своё поведение.</a:t>
            </a:r>
          </a:p>
        </p:txBody>
      </p:sp>
      <p:pic>
        <p:nvPicPr>
          <p:cNvPr id="5" name="Рисунок 4" descr="450+ Thinking Business Women With Question Mark And Idea ...">
            <a:extLst>
              <a:ext uri="{FF2B5EF4-FFF2-40B4-BE49-F238E27FC236}">
                <a16:creationId xmlns:a16="http://schemas.microsoft.com/office/drawing/2014/main" id="{88FDBA93-7285-7D45-D8BF-61600F77BF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69" r="15821" b="2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848645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107D2D-4D0F-90A4-9A87-955A5E681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31" r="1" b="10434"/>
          <a:stretch>
            <a:fillRect/>
          </a:stretch>
        </p:blipFill>
        <p:spPr>
          <a:xfrm>
            <a:off x="329316" y="10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57891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91974-6438-8512-7F76-8611E51A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2F2CE-55F4-D5F6-09FE-C9BA0256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2559" y="336035"/>
            <a:ext cx="4140014" cy="1330839"/>
          </a:xfrm>
        </p:spPr>
        <p:txBody>
          <a:bodyPr>
            <a:normAutofit/>
          </a:bodyPr>
          <a:lstStyle/>
          <a:p>
            <a:r>
              <a:rPr lang="ru-RU" b="1" dirty="0"/>
              <a:t>Понимающая социология</a:t>
            </a:r>
            <a:endParaRPr lang="ru-RU" dirty="0"/>
          </a:p>
        </p:txBody>
      </p:sp>
      <p:pic>
        <p:nvPicPr>
          <p:cNvPr id="5" name="Рисунок 4" descr="Эмоциональный интеллект: развиваем навыки для жизни и карьеры​">
            <a:extLst>
              <a:ext uri="{FF2B5EF4-FFF2-40B4-BE49-F238E27FC236}">
                <a16:creationId xmlns:a16="http://schemas.microsoft.com/office/drawing/2014/main" id="{85A6B92A-60AC-3FD2-A3D5-B8827AA1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7" r="22689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624793D-58C9-6718-1692-99F94AA9B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731" y="1666875"/>
            <a:ext cx="5061670" cy="5019674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Вебер не сводил социологию к субъективным переживаниям отдельных людей. Понимание мотивов должно сочетаться с причинным объяснением: исследователь выясняет, как определённые действия связаны с конкретными последствиями и при каких условиях они возникают. Таким образом, понимающая социология объединяет интерпретацию человеческих смыслов и научное объяснение социальных процессов. </a:t>
            </a:r>
          </a:p>
        </p:txBody>
      </p:sp>
    </p:spTree>
    <p:extLst>
      <p:ext uri="{BB962C8B-B14F-4D97-AF65-F5344CB8AC3E}">
        <p14:creationId xmlns:p14="http://schemas.microsoft.com/office/powerpoint/2010/main" val="978686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DE727-49C7-E50D-F51A-362FEA1F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337804"/>
            <a:ext cx="5838825" cy="1171575"/>
          </a:xfrm>
        </p:spPr>
        <p:txBody>
          <a:bodyPr>
            <a:noAutofit/>
          </a:bodyPr>
          <a:lstStyle/>
          <a:p>
            <a:r>
              <a:rPr lang="ru-RU" b="1" dirty="0"/>
              <a:t>Идея рационализации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D66EBB-F358-C874-AA6C-50D0A41C8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847182"/>
            <a:ext cx="4466505" cy="4743450"/>
          </a:xfrm>
        </p:spPr>
        <p:txBody>
          <a:bodyPr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Рационализация – исторический процесс, в ходе которого всё большую роль в организации общественной жизни начинают играть расчёт, формальные правила, специализированные знания, предсказуемость и целенаправленное планирование. Вебер связывал этот процесс с развитием современного капитализма, науки, права и государственного управления. </a:t>
            </a:r>
          </a:p>
        </p:txBody>
      </p:sp>
      <p:pic>
        <p:nvPicPr>
          <p:cNvPr id="4" name="Рисунок 3" descr="Традиционное общество: признаки и примеры аграрного общества, примеры">
            <a:extLst>
              <a:ext uri="{FF2B5EF4-FFF2-40B4-BE49-F238E27FC236}">
                <a16:creationId xmlns:a16="http://schemas.microsoft.com/office/drawing/2014/main" id="{8DFCF4F7-3005-0C68-C642-0E669476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87" r="-1" b="9736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5" name="Рисунок 4" descr="Москва-Сити — Википедия">
            <a:extLst>
              <a:ext uri="{FF2B5EF4-FFF2-40B4-BE49-F238E27FC236}">
                <a16:creationId xmlns:a16="http://schemas.microsoft.com/office/drawing/2014/main" id="{9D0B5F47-0CA8-E314-7443-83CE4C12B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34" b="11286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47712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24F14-05E7-DE14-29E9-CB977095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569" y="262996"/>
            <a:ext cx="5962650" cy="1807305"/>
          </a:xfrm>
        </p:spPr>
        <p:txBody>
          <a:bodyPr>
            <a:normAutofit/>
          </a:bodyPr>
          <a:lstStyle/>
          <a:p>
            <a:r>
              <a:rPr lang="ru-RU" b="1" dirty="0"/>
              <a:t>Идея рационализации</a:t>
            </a:r>
            <a:endParaRPr lang="ru-RU" dirty="0"/>
          </a:p>
        </p:txBody>
      </p:sp>
      <p:pic>
        <p:nvPicPr>
          <p:cNvPr id="4" name="Рисунок 3" descr="Организация деятельности - Современные технологии управления">
            <a:extLst>
              <a:ext uri="{FF2B5EF4-FFF2-40B4-BE49-F238E27FC236}">
                <a16:creationId xmlns:a16="http://schemas.microsoft.com/office/drawing/2014/main" id="{F861A87D-AEC8-B9AE-765D-8AFE610517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318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D95E311-970C-EDA4-ABA1-3C87BCFF9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070301"/>
            <a:ext cx="5430562" cy="4106662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sz="2400" dirty="0"/>
              <a:t>Бюрократическая организация предполагает иерархию должностей, разделение обязанностей, систему правил, письменную документацию и отбор работников на основе квалификации. Она позволяет координировать деятельность большого количества людей, обеспечивать последовательность решений и делать работу более предсказуемой.</a:t>
            </a:r>
          </a:p>
        </p:txBody>
      </p:sp>
    </p:spTree>
    <p:extLst>
      <p:ext uri="{BB962C8B-B14F-4D97-AF65-F5344CB8AC3E}">
        <p14:creationId xmlns:p14="http://schemas.microsoft.com/office/powerpoint/2010/main" val="1656174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03029-6C50-707D-0365-EAC7B77D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ED30C-9E8A-5AD0-6931-5000D91DE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670559"/>
            <a:ext cx="6038850" cy="2148841"/>
          </a:xfrm>
        </p:spPr>
        <p:txBody>
          <a:bodyPr>
            <a:normAutofit/>
          </a:bodyPr>
          <a:lstStyle/>
          <a:p>
            <a:r>
              <a:rPr lang="ru-RU" b="1" dirty="0"/>
              <a:t>Идея рационализации</a:t>
            </a:r>
            <a:endParaRPr lang="ru-RU" dirty="0"/>
          </a:p>
        </p:txBody>
      </p:sp>
      <p:pic>
        <p:nvPicPr>
          <p:cNvPr id="4" name="Рисунок 3" descr="Итоги торгов. Годовой максимум не покорился, акции пошли вниз">
            <a:extLst>
              <a:ext uri="{FF2B5EF4-FFF2-40B4-BE49-F238E27FC236}">
                <a16:creationId xmlns:a16="http://schemas.microsoft.com/office/drawing/2014/main" id="{16B8B63B-33FB-EBFE-F097-B23CB0BD3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97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4E6B6A1-ACA6-F603-31CE-B91CFAAA2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1649" y="670559"/>
            <a:ext cx="5458402" cy="5445076"/>
          </a:xfrm>
        </p:spPr>
        <p:txBody>
          <a:bodyPr>
            <a:normAutofit/>
          </a:bodyPr>
          <a:lstStyle/>
          <a:p>
            <a:pPr marL="0" indent="457200" algn="just">
              <a:buNone/>
            </a:pPr>
            <a:r>
              <a:rPr lang="ru-RU" dirty="0"/>
              <a:t>Однако рационализация имеет и обратную сторону. Избыточное количество правил и процедур может ограничивать самостоятельность человека, превращать выполнение формальных требований в самоцель и затруднять индивидуальный подход. </a:t>
            </a:r>
          </a:p>
        </p:txBody>
      </p:sp>
    </p:spTree>
    <p:extLst>
      <p:ext uri="{BB962C8B-B14F-4D97-AF65-F5344CB8AC3E}">
        <p14:creationId xmlns:p14="http://schemas.microsoft.com/office/powerpoint/2010/main" val="2887590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745DD1-E632-806B-9D16-65BE5F79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405C8-96EC-184B-16C0-4D5F5A8C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4" y="365125"/>
            <a:ext cx="6067425" cy="1807305"/>
          </a:xfrm>
        </p:spPr>
        <p:txBody>
          <a:bodyPr>
            <a:normAutofit/>
          </a:bodyPr>
          <a:lstStyle/>
          <a:p>
            <a:r>
              <a:rPr lang="ru-RU" b="1" dirty="0"/>
              <a:t>Идея рационализации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B3E2B6-68BE-65B8-DE81-0498C053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886" y="1973262"/>
            <a:ext cx="4953000" cy="4519613"/>
          </a:xfrm>
        </p:spPr>
        <p:txBody>
          <a:bodyPr>
            <a:normAutofit lnSpcReduction="10000"/>
          </a:bodyPr>
          <a:lstStyle/>
          <a:p>
            <a:pPr marL="0" indent="457200" algn="just">
              <a:buNone/>
            </a:pPr>
            <a:r>
              <a:rPr lang="ru-RU" sz="2400" dirty="0"/>
              <a:t>Вебер обращал внимание на противоречивый характер современного общества: рациональные системы повышают эффективность организации, но одновременно могут ограничивать свободу человека и усиливать власть безличных правил. Таким образом, концепция рационализации позволяет анализировать не только устройство общества, но и проблемы современной цивилизации.</a:t>
            </a:r>
          </a:p>
          <a:p>
            <a:endParaRPr lang="ru-RU" sz="2000" dirty="0"/>
          </a:p>
        </p:txBody>
      </p:sp>
      <p:pic>
        <p:nvPicPr>
          <p:cNvPr id="4" name="Рисунок 3" descr="Офис с видом из оконного города. рабочее место">
            <a:extLst>
              <a:ext uri="{FF2B5EF4-FFF2-40B4-BE49-F238E27FC236}">
                <a16:creationId xmlns:a16="http://schemas.microsoft.com/office/drawing/2014/main" id="{D0A92B31-03B2-0121-2864-5BDD5B609E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97" r="26788" b="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64661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318E8-4ACE-8596-00FE-405111ED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CEDB094C-E072-FCBE-83DC-76EDF830A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3087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6750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B2287-F041-6893-38EF-B07CB19A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C7D53-E4FE-FE98-0D4C-8242CC934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705" y="713313"/>
            <a:ext cx="6489795" cy="5431376"/>
          </a:xfrm>
        </p:spPr>
        <p:txBody>
          <a:bodyPr anchor="ctr">
            <a:noAutofit/>
          </a:bodyPr>
          <a:lstStyle/>
          <a:p>
            <a:pPr marL="0" indent="457200" algn="just">
              <a:buNone/>
            </a:pPr>
            <a:r>
              <a:rPr lang="ru-RU" sz="2400" dirty="0"/>
              <a:t>Подход Вебера позволяет увидеть </a:t>
            </a:r>
            <a:r>
              <a:rPr lang="ru-RU" sz="2400" dirty="0" err="1"/>
              <a:t>многопричинность</a:t>
            </a:r>
            <a:r>
              <a:rPr lang="ru-RU" sz="2400" dirty="0"/>
              <a:t> общественного развития. </a:t>
            </a:r>
          </a:p>
          <a:p>
            <a:pPr marL="0" indent="457200" algn="just">
              <a:buNone/>
            </a:pPr>
            <a:r>
              <a:rPr lang="ru-RU" sz="2400" dirty="0"/>
              <a:t>Субъективные мотивы людей не всегда можно достоверно установить, а реальные общественные процессы часто зависят от структурных условий, которые не сводятся к индивидуальным действиям. </a:t>
            </a:r>
          </a:p>
          <a:p>
            <a:pPr marL="0" indent="457200" algn="just">
              <a:buNone/>
            </a:pPr>
            <a:r>
              <a:rPr lang="ru-RU" sz="2400" dirty="0"/>
              <a:t>Тем не менее эти трудности не отменяют значения </a:t>
            </a:r>
            <a:r>
              <a:rPr lang="ru-RU" sz="2400" dirty="0" err="1"/>
              <a:t>веберовского</a:t>
            </a:r>
            <a:r>
              <a:rPr lang="ru-RU" sz="2400" dirty="0"/>
              <a:t> подхода. Напротив, они подчёркивают необходимость сочетать понимание человеческих смыслов с анализом социальных структур и объективных обстоятельств.</a:t>
            </a:r>
          </a:p>
        </p:txBody>
      </p:sp>
    </p:spTree>
    <p:extLst>
      <p:ext uri="{BB962C8B-B14F-4D97-AF65-F5344CB8AC3E}">
        <p14:creationId xmlns:p14="http://schemas.microsoft.com/office/powerpoint/2010/main" val="3415095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DBF43-74E0-43C1-FD13-0913420A3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94" y="1058780"/>
            <a:ext cx="5602705" cy="30921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u-RU" sz="8000" b="1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886037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837</Words>
  <Application>Microsoft Office PowerPoint</Application>
  <PresentationFormat>Широкоэкранный</PresentationFormat>
  <Paragraphs>48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Тема Office</vt:lpstr>
      <vt:lpstr>Концепция социальной реальности Макса Вебера</vt:lpstr>
      <vt:lpstr>Макс Вебер</vt:lpstr>
      <vt:lpstr>Макс Вебер</vt:lpstr>
      <vt:lpstr>Макс Вебер</vt:lpstr>
      <vt:lpstr>Социальное действие</vt:lpstr>
      <vt:lpstr>Презентация PowerPoint</vt:lpstr>
      <vt:lpstr>Социальное действие</vt:lpstr>
      <vt:lpstr>Социальное действие</vt:lpstr>
      <vt:lpstr>Презентация PowerPoint</vt:lpstr>
      <vt:lpstr>Признаки социального действия</vt:lpstr>
      <vt:lpstr>Типы социального действия</vt:lpstr>
      <vt:lpstr>Понимающая социология</vt:lpstr>
      <vt:lpstr>Презентация PowerPoint</vt:lpstr>
      <vt:lpstr>Понимающая социология</vt:lpstr>
      <vt:lpstr>Идея рационализации</vt:lpstr>
      <vt:lpstr>Идея рационализации</vt:lpstr>
      <vt:lpstr>Идея рационализации</vt:lpstr>
      <vt:lpstr>Идея рационализации</vt:lpstr>
      <vt:lpstr>Заключение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 Sharigin</dc:creator>
  <cp:lastModifiedBy>Maxim Sharigin</cp:lastModifiedBy>
  <cp:revision>5</cp:revision>
  <dcterms:created xsi:type="dcterms:W3CDTF">2026-10-25T17:03:35Z</dcterms:created>
  <dcterms:modified xsi:type="dcterms:W3CDTF">2026-10-26T23:55:29Z</dcterms:modified>
</cp:coreProperties>
</file>